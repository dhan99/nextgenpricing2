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54864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28A2A"/>
                </a:solidFill>
                <a:latin typeface="Calibri"/>
              </a:rPr>
              <a:t>DEALPAD · STAKEHOLDER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Integrations API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Microsoft Dynamics 365 (CRM)  ·  Workday (HCM / Financial Management)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April 2026  ·  Persistent simulation today, configuration-only cutover to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Why these two integrations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42E"/>
                </a:solidFill>
                <a:latin typeface="Calibri"/>
              </a:rPr>
              <a:t>•  Dynamics 365 is the system of record for client accounts and the opportunity pipeline; DealPad pushes fee, stage, probability, and forecast on every deal change.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42E"/>
                </a:solidFill>
                <a:latin typeface="Calibri"/>
              </a:rPr>
              <a:t>•  Workday is the source of truth for budgets, worker availability, and standard cost rates; DealPad gates deal submission on Workday's verdict.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42E"/>
                </a:solidFill>
                <a:latin typeface="Calibri"/>
              </a:rPr>
              <a:t>•  Both integrations run today as persistent simulations behind a Provider interface — full UX, audit, and override flows are real.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42E"/>
                </a:solidFill>
                <a:latin typeface="Calibri"/>
              </a:rPr>
              <a:t>•  Cutover is configuration-only: implement Live providers behind the existing routes, populate secrets, flip mode flag per environment.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42E"/>
                </a:solidFill>
                <a:latin typeface="Calibri"/>
              </a:rPr>
              <a:t>•  Audit is built in: dynamics_sync_log, workday_events, workday_validations + findings capture every call, every override, every actor.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28A2A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Microsoft Dynamics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Bi-directional CRM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4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931920" cy="2377440"/>
          </a:xfrm>
          <a:prstGeom prst="round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DealPad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657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Node + Postgres</a:t>
            </a:r>
          </a:p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Provider pattern</a:t>
            </a:r>
          </a:p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Audit log + sync log</a:t>
            </a:r>
          </a:p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RBAC + override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920240"/>
            <a:ext cx="3931920" cy="2377440"/>
          </a:xfrm>
          <a:prstGeom prst="round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103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22B4A"/>
                </a:solidFill>
                <a:latin typeface="Calibri"/>
              </a:rPr>
              <a:t>Microsoft Dynamics 365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06040"/>
            <a:ext cx="3657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22B4A"/>
                </a:solidFill>
                <a:latin typeface="Calibri"/>
              </a:rPr>
              <a:t>Dataverse Web API v9.2</a:t>
            </a:r>
          </a:p>
          <a:p>
            <a:pPr algn="l"/>
            <a:r>
              <a:rPr sz="1200" b="0">
                <a:solidFill>
                  <a:srgbClr val="122B4A"/>
                </a:solidFill>
                <a:latin typeface="Calibri"/>
              </a:rPr>
              <a:t>Entities: accounts, opportunities,</a:t>
            </a:r>
          </a:p>
          <a:p>
            <a:pPr algn="l"/>
            <a:r>
              <a:rPr sz="1200" b="0">
                <a:solidFill>
                  <a:srgbClr val="122B4A"/>
                </a:solidFill>
                <a:latin typeface="Calibri"/>
              </a:rPr>
              <a:t>  systemusers, contacts</a:t>
            </a:r>
          </a:p>
          <a:p>
            <a:pPr algn="l"/>
            <a:r>
              <a:rPr sz="1200" b="0">
                <a:solidFill>
                  <a:srgbClr val="122B4A"/>
                </a:solidFill>
                <a:latin typeface="Calibri"/>
              </a:rPr>
              <a:t>Native $batch + OData filtering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4709160" y="2286000"/>
            <a:ext cx="2834640" cy="502920"/>
          </a:xfrm>
          <a:prstGeom prst="leftArrow">
            <a:avLst/>
          </a:prstGeom>
          <a:solidFill>
            <a:srgbClr val="5C6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93392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C6673"/>
                </a:solidFill>
                <a:latin typeface="Calibri"/>
              </a:rPr>
              <a:t>Inbound: nightly batch + on-demand pull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09160" y="3383280"/>
            <a:ext cx="2834640" cy="502920"/>
          </a:xfrm>
          <a:prstGeom prst="rightArrow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93192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22B4A"/>
                </a:solidFill>
                <a:latin typeface="Calibri"/>
              </a:rPr>
              <a:t>Outbound: stage / fee / probability /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54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2B4A"/>
                </a:solidFill>
                <a:latin typeface="Calibri"/>
              </a:rPr>
              <a:t>Trigger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74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42E"/>
                </a:solidFill>
                <a:latin typeface="Calibri"/>
              </a:rPr>
              <a:t>•  Outbound auto-push on deal status / stage / step / fee / cost / hours / margin change (per-trigger toggles in dynamics_settings).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42E"/>
                </a:solidFill>
                <a:latin typeface="Calibri"/>
              </a:rPr>
              <a:t>•  Inbound nightly batch (POST /api/dynamics/nightly-batch) and on-demand pull (POST /api/dynamics/sync).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42E"/>
                </a:solidFill>
                <a:latin typeface="Calibri"/>
              </a:rPr>
              <a:t>•  Manual push: POST /api/dynamics/deals/:id/push.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AUTH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OAuth 2.0 client-credentials via Azure 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5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Token endpoint: https://login.microsoftonline.com/{tenantId}/oauth2/v2.0/token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Scope: https://{org}.api.crm.dynamics.com/.default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Header on every Web API call: Authorization: Bearer &lt;token&gt;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Secrets in Replit Secrets: D365_TENANT_ID, D365_CLIENT_ID, D365_CLIENT_SECRET, D365_ORG_URL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Audit: every inbound / outbound call appended to dynamics_sync_log (direction, entity, fields, actor, trigger, status).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97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2B4A"/>
                </a:solidFill>
                <a:latin typeface="Calibri"/>
              </a:rPr>
              <a:t>Token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572000"/>
            <a:ext cx="11247120" cy="182880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/{tenantId}/oauth2/v2.0/token  HTTP/1.1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Host: login.microsoftonline.com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Content-Type: application/x-www-form-urlencoded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grant_type=client_credentials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&amp;client_id=$D365_CLIENT_ID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&amp;client_secret=$D365_CLIENT_SECRET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&amp;scope=https://armanino.api.crm.dynamics.com/.default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read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6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5760720"/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/api/dynamics/accounts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List all client accounts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/api/dynamics/accounts/:id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Single account detail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/api/dynamics/opportunities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List opportunities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/api/dynamics/opportunities/eligible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Develop/Propose opps not yet linked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/api/dynamics/scope-templates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Service-line scope templates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/api/dynamics/pipeline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Pipeline rollup (stage / owner / forecast)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/api/dynamics/sync-log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Last 100 sync events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/api/dynamics/settings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Sync toggles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/api/dynamics/owners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Sales owners + quotas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write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7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5760720"/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/api/dynamics/opportunities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Create new opportunity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/api/dynamics/opportunities/:id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Edit stage / value / owner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/api/dynamics/opportunities/:id/import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Pull opp into DealPad as draft deal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/api/dynamics/opportunities/:id/unlink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Unlink opp from DealPad deal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/api/dynamics/deals/:id/push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Manual push: deal → D365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/api/dynamics/sync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Bulk on-demand pull / push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/api/dynamics/nightly-batch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Scheduled full sync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/api/dynamics/settings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Update sync toggles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/api/dynamics/accounts/:id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Edit account record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PRODUCTION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route → Dataverse Web API v9.2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8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C6673"/>
                </a:solidFill>
                <a:latin typeface="Calibri"/>
              </a:rPr>
              <a:t>Base: https://{org}.api.crm.dynamics.com/api/data/v9.2/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67512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DealPad endpoint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Production Dataverse call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/api/dynamics/accounts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/accounts?$select=name,industrycode,revenue,numberofemployees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/api/dynamics/accounts/:id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/accounts({accountid})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/api/dynamics/opportunities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/opportunities?$expand=parentaccountid($select=name)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/api/dynamics/opportunities/eligible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/opportunities?$filter=statecode eq 0 and stepname in ('Develop','Propose')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/api/dynamics/pipeline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/opportunities?$filter=statecode eq 0&amp;$select=estimatedvalue,closeprobability,stepname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/api/dynamics/owners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/systemusers?$filter=isdisabled eq false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/api/dynamics/opportunities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POST /opportunities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 /api/dynamics/opportunities/:id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PATCH /opportunities({opportunityid})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/api/dynamics/opportunities/:id/import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/opportunities({opportunityid})  +  DealPad insert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/api/dynamics/deals/:id/push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PATCH /opportunities({opportunityid})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/api/dynamics/sync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Multiple GET / PATCH on /accounts and /opportunities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/api/dynamics/nightly-batch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Multiple GET / PATCH on /accounts and /opportunities (use $batch)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 /api/dynamics/accounts/:id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PATCH /accounts({accountid})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SAMPLE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Create opportunity — DealPad ↔ Dataverse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9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2B4A"/>
                </a:solidFill>
                <a:latin typeface="Calibri"/>
              </a:rPr>
              <a:t>DealPad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219456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/api/dynamics/opportunities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Content-Type: application/json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"accountId": 42,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"name": "Crestwood - Annual Audit",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"estimatedValue": 412000,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"stage": "Qualify",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"estimatedCloseDate": "2026-11-01",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"ownerName": "Priya Anand"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2B4A"/>
                </a:solidFill>
                <a:latin typeface="Calibri"/>
              </a:rPr>
              <a:t>Dataverse Web API equivalent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486400" cy="219456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/api/data/v9.2/opportunities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Authorization: Bearer eyJ0eXA...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OData-Version: 4.0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"name": "Crestwood - Annual Audit",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"estimatedvalue": 412000,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"estimatedclosedate": "2026-11-01",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"stepname": "Qualify",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"parentaccountid@odata.bind": "/accounts(8b3a)",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"ownerid@odata.bind": "/systemusers(5d7c)"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2B4A"/>
                </a:solidFill>
                <a:latin typeface="Calibri"/>
              </a:rPr>
              <a:t>Response (DealPad-shaped)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26280"/>
            <a:ext cx="11247120" cy="182880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"id": 137, "opportunityNumber": "OPP-100204",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"name": "Crestwood - Annual Audit",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"estimatedValue": 412000, "stage": "Qualify", "probability": 20,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"forecastCategory": "Pipeline", "syncStatus": "queued",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"syncDirection": "inbound"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28A2A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Validation gate on save &amp; submit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11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931920" cy="2377440"/>
          </a:xfrm>
          <a:prstGeom prst="round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DealPad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657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Node + Postgres</a:t>
            </a:r>
          </a:p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Provider pattern</a:t>
            </a:r>
          </a:p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Audit log + sync log</a:t>
            </a:r>
          </a:p>
          <a:p>
            <a:pPr algn="l"/>
            <a:r>
              <a:rPr sz="1200" b="0">
                <a:solidFill>
                  <a:srgbClr val="C28A2A"/>
                </a:solidFill>
                <a:latin typeface="Calibri"/>
              </a:rPr>
              <a:t>RBAC + override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920240"/>
            <a:ext cx="3931920" cy="2377440"/>
          </a:xfrm>
          <a:prstGeom prst="round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103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22B4A"/>
                </a:solidFill>
                <a:latin typeface="Calibri"/>
              </a:rPr>
              <a:t>Workday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06040"/>
            <a:ext cx="3657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22B4A"/>
                </a:solidFill>
                <a:latin typeface="Calibri"/>
              </a:rPr>
              <a:t>REST + SOAP web services</a:t>
            </a:r>
          </a:p>
          <a:p>
            <a:pPr algn="l"/>
            <a:r>
              <a:rPr sz="1200" b="0">
                <a:solidFill>
                  <a:srgbClr val="122B4A"/>
                </a:solidFill>
                <a:latin typeface="Calibri"/>
              </a:rPr>
              <a:t>Modules: Financial Management,</a:t>
            </a:r>
          </a:p>
          <a:p>
            <a:pPr algn="l"/>
            <a:r>
              <a:rPr sz="1200" b="0">
                <a:solidFill>
                  <a:srgbClr val="122B4A"/>
                </a:solidFill>
                <a:latin typeface="Calibri"/>
              </a:rPr>
              <a:t>  Staffing, Compensation</a:t>
            </a:r>
          </a:p>
          <a:p>
            <a:pPr algn="l"/>
            <a:r>
              <a:rPr sz="1200" b="0">
                <a:solidFill>
                  <a:srgbClr val="122B4A"/>
                </a:solidFill>
                <a:latin typeface="Calibri"/>
              </a:rPr>
              <a:t>Validation runs gate submission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4709160" y="2286000"/>
            <a:ext cx="2834640" cy="502920"/>
          </a:xfrm>
          <a:prstGeom prst="leftArrow">
            <a:avLst/>
          </a:prstGeom>
          <a:solidFill>
            <a:srgbClr val="5C6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93392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5C6673"/>
                </a:solidFill>
                <a:latin typeface="Calibri"/>
              </a:rPr>
              <a:t>Inbound: cost centers, workers, rate card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09160" y="3383280"/>
            <a:ext cx="2834640" cy="502920"/>
          </a:xfrm>
          <a:prstGeom prst="rightArrow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93192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22B4A"/>
                </a:solidFill>
                <a:latin typeface="Calibri"/>
              </a:rPr>
              <a:t>Outbound: validation request (composite)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54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2B4A"/>
                </a:solidFill>
                <a:latin typeface="Calibri"/>
              </a:rPr>
              <a:t>Trigger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74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42E"/>
                </a:solidFill>
                <a:latin typeface="Calibri"/>
              </a:rPr>
              <a:t>•  Auto-validate on deal save (workday_settings.autoValidateOnSave).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42E"/>
                </a:solidFill>
                <a:latin typeface="Calibri"/>
              </a:rPr>
              <a:t>•  Submission gate: PATCH /api/deals/:id with status=submitted triggers validation; over_budget or staffing_shortfall blocks unless overridden.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42E"/>
                </a:solidFill>
                <a:latin typeface="Calibri"/>
              </a:rPr>
              <a:t>•  Override: POST /api/workday/validations/:id/override — Finance / Service Line Lead only, justification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AUTH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OAuth 2.0 (REST) or ISU + Basic auth (SOAP)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12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OAuth 2.0 token endpoint: https://{host}.workday.com/ccx/oauth2/{tenant}/token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Legacy SOAP services: Authorization: Basic base64(ISU@tenant:password)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Secrets in workday_settings (encrypted): tenantUrl, isuUsername, apiClientId, apiClientSecret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TLS 1.2+ + IP allow-list on Workday tenant; integration system limited via domain security policy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Audit: workday_events (every call), workday_validations + workday_validation_findings (every check + override)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97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2B4A"/>
                </a:solidFill>
                <a:latin typeface="Calibri"/>
              </a:rPr>
              <a:t>OAuth token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572000"/>
            <a:ext cx="11247120" cy="182880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/ccx/oauth2/armanino/token  HTTP/1.1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Host: wd5.workday.com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Content-Type: application/x-www-form-urlencoded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Authorization: Basic &lt;base64(client_id:client_secret)&gt;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grant_type=client_credentials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&amp;scope=staffing financialManagement compensation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read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13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5760720"/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/api/workday/settings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Mode, tenant, tolerances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/api/workday/cost-centers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Budgets + headroom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/api/workday/workers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Worker pool + availability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/api/workday/rate-card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Standard cost rates by role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/api/workday/validations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Recent validation runs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/api/workday/validations/:id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Validation detail + findings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/api/workday/deals/:dealId/latest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Latest validation for a deal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/api/workday/events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Last 150 audit events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/api/workday/dashboard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Cross-deal validation rollup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write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14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5760720"/>
              </a:tblGrid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/api/workday/settings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Update mode / tolerances / credentials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/api/workday/cost-centers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Create cost center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/api/workday/cost-centers/:id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Edit cost center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DELETE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/api/workday/cost-centers/:id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Delete cost center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/api/workday/workers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Create worker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/api/workday/workers/:id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Edit worker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DELETE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/api/workday/workers/:id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Remove worker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/api/workday/rate-card/:id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Update standard cost rate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/api/workday/deals/:dealId/validate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Run validation for a deal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/api/workday/deals/:dealId/link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Link / unlink deal ↔ cost center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/api/workday/validations/:id/override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Override blocking validation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PRODUCTION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route → Workday REST or SOAP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15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C6673"/>
                </a:solidFill>
                <a:latin typeface="Calibri"/>
              </a:rPr>
              <a:t>REST base: https://{host}.workday.com/ccx/api/{service}/v{n}/{tenant}/  ·  SOAP base: https://{host}.workday.com/ccx/service/{tenant}/{service}/v{n}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67512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DealPad endpoint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Production Workday call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/api/workday/cost-centers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/financialManagement/v1/{tenant}/costCenters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/api/workday/workers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/staffing/v6/{tenant}/workers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GET /api/workday/rate-card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GET /compensation/v1/{tenant}/compensationPlans  (or RaaS report)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/api/workday/cost-centers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POST /financialManagement/v1/{tenant}/costCenters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 /api/workday/cost-centers/:id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PATCH /financialManagement/v1/{tenant}/costCenters/{id}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DELETE /api/workday/cost-centers/:id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DELETE /financialManagement/v1/{tenant}/costCenters/{id}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/api/workday/workers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SOAP Hire_Employee  (Staffing v40+)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 /api/workday/workers/:id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SOAP Edit_Position / Change_Job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DELETE /api/workday/workers/:id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SOAP Terminate_Employee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PATCH /api/workday/rate-card/:id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SOAP Put_Compensation_Plan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/api/workday/deals/:dealId/validate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Composite: GET costCenters + GET workers + DealPad rules engine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/api/workday/deals/:dealId/link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DealPad-internal mapping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POST /api/workday/validations/:id/override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DealPad-internal audit (workday_validations override fields)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SAMPLE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Validate deal — REST cost-center pull + SOAP rate-card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16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2B4A"/>
                </a:solidFill>
                <a:latin typeface="Calibri"/>
              </a:rPr>
              <a:t>REST: cost-center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219456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/ccx/api/financialManagement/v1/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armanino/costCenters/CC-CONS-300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Authorization: Bearer eyJraWQiOi...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Accept: application/json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200 OK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"id": "8e1b", "code": "CC-CONS-300",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"name": "Technology Consulting",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"totalBudget": 6200000,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"committed": 5950000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2B4A"/>
                </a:solidFill>
                <a:latin typeface="Calibri"/>
              </a:rPr>
              <a:t>SOAP: rate-card 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486400" cy="219456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&lt;env:Envelope ...&gt;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&lt;env:Body&gt;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&lt;wd:Put_Compensation_Plan_Request&gt;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&lt;wd:Plan_Reference Descriptor="Senior Manager"/&gt;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&lt;wd:Plan_Data&gt;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&lt;wd:Standard_Hourly_Cost_Rate&gt;200&lt;/wd:...&gt;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&lt;wd:Effective_Date&gt;2026-04-17&lt;/wd:...&gt;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&lt;/wd:Plan_Data&gt;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&lt;/wd:Put_Compensation_Plan_Request&gt;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&lt;/env:Body&gt;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&lt;/env:Envelope&gt;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2B4A"/>
                </a:solidFill>
                <a:latin typeface="Calibri"/>
              </a:rPr>
              <a:t>Response (DealPad validation)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26280"/>
            <a:ext cx="11247120" cy="182880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"ok": false, "status": "staffing_shortfall", "validationId": 412,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"summary": "Staffing shortfall: 240h across roles.",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"findings": [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{ "findingType": "budget", "severity": "info", "message": "..." },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{ "findingType": "staffing", "severity": "blocker", "roleName": "Sr Consultant",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  "requiredHours": 640, "availableHours": 400, "shortfallHours": 240 }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]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FIELD MAPPING · DYNAMICS 365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DealPad Deal ↔ D365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17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931920"/>
              </a:tblGrid>
              <a:tr h="528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DealPad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Dynamics 365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deals.title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1:1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deals.totalFee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estimatedvalue / actualvalue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Won → also actualclosedate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deals.endDate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estimatedclosedate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derived stage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stepname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won/lost/approved/submitted/in_review → Won/Lost/Close/Propose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derived probability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closeprobability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Qualify 20 / Develop 40 / Propose 65 / Close 85 / Won 100 / Lost 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derived forecastCategory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forecastcategory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Won/Lost→Closed, ≥80→Commit, ≥50→Best Case, else Pipeline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deals.pdlName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ownerid (systemusers)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Resolved via dynamics_owners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clients.name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parentaccountid (accounts)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FIELD MAPPING · WORKDAY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DealPad pricing line ↔ Workday worker availability + cost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18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114800"/>
                <a:gridCol w="3657600"/>
              </a:tblGrid>
              <a:tr h="6792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DealPad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Workday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54864" marR="54864" marT="27432" marB="27432">
                    <a:solidFill>
                      <a:srgbClr val="122B4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pricing_lines.roleId → roles.name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compensationPlans.role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Drives rate-card lookup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pricing_lines.costRate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compensationPlans.standardHourlyCostRate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Variance &gt; tolerance → rate_variance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Σ pricing_lines.hours by role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Σ workers.availableHours by role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Required vs available → staffing_shortfall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deals.totalCost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costCenters.committed (delta)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Pre-commit headroom → over_budget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deals.workdayCostCenterId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costCenters.id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One cost center per deal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F242E"/>
                          </a:solidFill>
                          <a:latin typeface="Consolas"/>
                        </a:rPr>
                        <a:t>deals.businessUnit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costCenters.businessUnit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42E"/>
                          </a:solidFill>
                          <a:latin typeface="Calibri"/>
                        </a:rPr>
                        <a:t>Default mapping when no explicit link</a:t>
                      </a:r>
                    </a:p>
                  </a:txBody>
                  <a:tcPr marL="54864" marR="54864" marT="18288" marB="18288"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Risks, rate limits, and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19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Dynamics 365 Web API: 6,000 requests / 5-minute sliding window per user — use $batch for nightly job; honor Retry-After on 429.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Workday REST: ~1,500 req/min per tenant; SOAP services serialize per ISU — keep concurrency ≤ 8 for Get_Workers.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Network: Workday IP allow-list must include production egress; Dynamics requires Azure AD tenant trust granted by 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Data drift: simulated tables flushed (or migrated) at cutover so we don't serve stale rows after switching mode → live.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Override audit: blocking Workday validations only overridable by Finance / Service Line Lead, justification ≥ 5 chars, captured in workday_validations.overrideJustification + overriddenBy.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Audit log retention: dynamics_sync_log + workday_events queryable from the UI; export pipeline TBD with Security.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CUTOVER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Sandbox → live in 8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20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42E"/>
                </a:solidFill>
                <a:latin typeface="Calibri"/>
              </a:rPr>
              <a:t>1.  Provision sandbox tenants — Dynamics 365 (Dataverse) + Workday Implementation tenant.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42E"/>
                </a:solidFill>
                <a:latin typeface="Calibri"/>
              </a:rPr>
              <a:t>2.  Create Azure AD app registration; grant Dataverse user_impersonation scope.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42E"/>
                </a:solidFill>
                <a:latin typeface="Calibri"/>
              </a:rPr>
              <a:t>3.  Create Workday ISU + integration system; grant Get/Put domain security on Staffing, Financial Management, Compensation.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42E"/>
                </a:solidFill>
                <a:latin typeface="Calibri"/>
              </a:rPr>
              <a:t>4.  Populate Replit Secrets: D365_* and WORKDAY_* keys.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42E"/>
                </a:solidFill>
                <a:latin typeface="Calibri"/>
              </a:rPr>
              <a:t>5.  Implement Live providers (LiveDynamicsProvider, LiveWorkdayProvider) behind the existing Provider interface — no route changes.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42E"/>
                </a:solidFill>
                <a:latin typeface="Calibri"/>
              </a:rPr>
              <a:t>6.  Flip dynamics_settings.mode / workday_settings.mode to live per environment.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42E"/>
                </a:solidFill>
                <a:latin typeface="Calibri"/>
              </a:rPr>
              <a:t>7.  Run shadow-mode for 1 week (read live, write to sim) and reconcile via dynamics_sync_log + workday_events.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42E"/>
                </a:solidFill>
                <a:latin typeface="Calibri"/>
              </a:rPr>
              <a:t>8.  Cut over writes; archive simulated tables.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28A2A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Appendix · Per-Endpoint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(1/5)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22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List all client accounts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/api/dynamics/accounts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"id":42, "accountNumber":"ACC-000042", "name":"Helios Energy Inc",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"industry":"Energy", "annualRevenue":540000000,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"ownerName":"Marcus Chen", "syncStatus":"synced" }, ...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/api/dynamics/accounts/:id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Single account 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/api/dynamics/accounts/42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"id":42, "name":"Helios Energy Inc", "industryCode":"211000",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"primaryContact":{"name":"R. Park","email":"rpark@helios.com"},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"billingAddress":{"city":"Houston","state":"TX"}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List opportunities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/api/dynamics/opportunities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"id":12, "opportunityNumber":"OPP-100012", "name":"Crestwood Audit",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"accountName":"Crestwood Holdings", "stage":"Develop",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"estimatedValue":412000, "probability":40 }, ...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/api/dynamics/opportunities/eligible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Develop/Propose opps not yet linked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/api/dynamics/opportunities/eligible?clientId=8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"id":15, "name":"Helios SOX Readiness", "stage":"Develop",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"estimatedValue":540000, "scopeTemplate":{"key":"SOX Readiness"} } 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(2/5)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23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/api/dynamics/scope-templates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Service-line scope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/api/dynamics/scope-templates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"key":"Annual Audit", "businessUnit":"Audit &amp; Assurance",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"serviceLine":"Financial Audit", "complexity":"medium" }, ...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Pipeline rollup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"totalPipelineValue":4820000, "weightedPipelineValue":2110000,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"openOpportunities":17, "winRate":62.5,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"byStage":[{"stage":"Qualify","count":6,"value":1240000}],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"forecast":{"commit":880000,"bestCase":1230000}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/api/dynamics/sync-log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Last 100 sync events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/api/dynamics/sync-log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"id":712, "direction":"outbound", "entity":"Opportunity",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"action":"Auto-pushed deal updates to D365", "status":"success",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"actorName":"Marcus Chen", "timestamp":"2026-04-17T14:02Z" }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Sync toggles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/api/dynamics/settings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"autoPushEnabled":true, "autoPushOnStageChange":true,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"autoPushOnFeeChange":true, "nightlyBatchEnabled":true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(3/5)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24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Sales owners + quotas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/api/dynamics/owners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"id":1, "name":"Jennifer Walsh", "email":"jwalsh@armanino.com",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"quota":"2500000" }, ...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Create new opportunity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/api/dynamics/opportunities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"accountId":42, "name":"Crestwood Audit",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"estimatedValue":412000, "stage":"Qualify",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"estimatedCloseDate":"2026-11-01"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201 { "id":137, "opportunityNumber":"OPP-100204",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  "stage":"Qualify", "probability":20,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  "forecastCategory":"Pipeline", "syncStatus":"queued"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/api/dynamics/opportunities/:id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Edit stage / value / owner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/api/dynamics/opportunities/15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"stage":"Propose", "estimatedValue":560000 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"id":15, "stage":"Propose", "probability":65,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"forecastCategory":"Best Case", "estimatedValue":560000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/api/dynamics/opportunities/:id/import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Pull opp into DealPad as draft deal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/api/dynamics/opportunities/15/import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"userName":"Priya Anand" 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"success":true, "dealId":204, "dealNumber":"D-7714203" 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(4/5)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25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/api/dynamics/opportunities/:id/unlink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Unlink opp from DealPad deal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/api/dynamics/opportunities/15/unlink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"userName":"Priya Anand"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"ok":true, "previousDealId":204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/api/dynamics/deals/:id/push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Manual push: deal → D365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/api/dynamics/deals/204/push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"userName":"Marcus Chen"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"ok":true, "opportunityId":15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Bulk on-demand pull /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/api/dynamics/sync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"entity":"All", "direction":"bidirectional" 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"success":true, "entity":"All", "pulled":2, "pushed":3,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"durationMs":1840, "timestamp":"2026-04-17T14:05:11Z"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/api/dynamics/nightly-batch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Scheduled full sync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/api/dynamics/nightly-batch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"userName":"system" 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"success":true, "pulled":58, "pushed":17, "failed":0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(5/5)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26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Update sync toggles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/api/dynamics/settings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"autoPushOnFeeChange":false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"autoPushEnabled":true, "autoPushOnStageChange":true,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"autoPushOnFeeChange":false, "nightlyBatchEnabled":true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/api/dynamics/accounts/:id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Edit account record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/api/dynamics/accounts/42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"annualRevenue":620000000, "ownerName":"Lisa Hartmann"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"id":42, "name":"Helios Energy Inc", "annualRevenue":620000000,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"ownerName":"Lisa Hartmann", "lastSyncedAt":"2026-04-17T14:08Z" 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DYNAMICS 365 · PRODUCTION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Equivalent Dataverse Web API v9.2 calls (representative routes)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27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C6673"/>
                </a:solidFill>
                <a:latin typeface="Calibri"/>
              </a:rPr>
              <a:t>Base: https://{org}.api.crm.dynamics.com/api/data/v9.2/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GET /api/dynamics/accounts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/accounts?$select=name,industrycode,revenue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"value":[ { "accountid":"8b3a-...", "name":"Helios Energy Inc",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"revenue":540000000, "industrycode":54 } ]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69164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7" y="176479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POST /api/dynamics/opportunities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447" y="214884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/opportunities  (OData-Version: 4.0)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"name":"Crestwood Audit", "estimatedvalue":412000,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"estimatedclosedate":"2026-11-01", "stepname":"Qualify",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"parentaccountid@odata.bind":"/accounts(8b3a)" 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30175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204 No Content  (OData-EntityId: /opportunities(1c92...))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3367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PATCH /api/dynamics/opportunities/:id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/opportunities(1c92-...)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"stepname":"Propose", "estimatedvalue":560000,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"closeprobability":65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204 No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416052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447" y="423367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POST /api/dynamics/deals/:id/push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46177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/opportunities(1c92-...)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"estimatedvalue":560000, "actualvalue":null,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"closeprobability":65, "forecastcategory":2 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548640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204 No Content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(1/5)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28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Mode, tenant, tolerances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"id":1, "mode":"simulated", "autoValidateOnSave":true,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"autoCheckOnSubmit":true, "rateVarianceTolerancePct":"10.00"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/api/workday/cost-centers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Budgets + headroom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/api/workday/cost-centers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"id":3, "code":"CC-CONS-300", "name":"Technology Consulting",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"fiscalYear":"FY2026", "totalBudget":"6200000",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"committed":"5950000", "source":"simulated" }, ...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/api/workday/workers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Worker pool + availability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/api/workday/workers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"id":11, "employeeNumber":"EMP-010011", "name":"Erin Walsh",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"roleName":"Senior Consultant", "region":"West",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"weeklyCapacityHours":"40", "availableHours":"220" }, ...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/api/workday/rate-card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Standard cost rates by role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/api/workday/rate-card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"id":3, "roleName":"Senior Manager", "standardCostRate":"200",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"effectiveDate":"2025-07-01", "source":"simulated" }, ... 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(2/5)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29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/api/workday/validations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Recent validation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/api/workday/validations?dealId=87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"id":412, "dealId":87, "status":"staffing_shortfall",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"summary":"Staffing shortfall: 240h across roles.",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"requestedAt":"2026-04-17T13:50Z", "dealTitle":"Helios SOX" }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/api/workday/validations/:id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Validation detail + findings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/api/workday/validations/412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"id":412, "status":"staffing_shortfall", "budgetUsedPct":"68.78",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"findings":[ { "findingType":"staffing", "severity":"blocker",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"roleName":"Senior Consultant", "shortfallHours":"240" } ]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/api/workday/deals/:dealId/latest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Latest validation for a deal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/api/workday/deals/87/latest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"id":412, "status":"staffing_shortfall", "summary":"...",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"findings":[...], "costCenter":{"code":"CC-ADV-400"}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Last 150 audit events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/api/workday/events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[ { "id":904, "eventType":"validate", "entity":"Validation",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"dealId":87, "status":"failure", "actorName":"Sarah Chen",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"message":"Workday validation #412 → STAFFING_SHORTFALL" } 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(3/5)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30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Cross-deal validation rollup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/api/workday/dashboard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"counts":{"clean":12,"over_budget":1,"staffing_shortfall":2,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"rate_variance":3,"unvalidated":4},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"attention":[ { "dealId":87, "status":"staffing_shortfall" } ]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Update mode / tolerances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/api/workday/settings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"rateVarianceTolerancePct":12.5, "mode":"simulated"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"id":1, "mode":"simulated", "rateVarianceTolerancePct":"12.50"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/api/workday/cost-centers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Create cost center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/api/workday/cost-centers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"code":"CC-AUDIT-110", "name":"Audit West",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"totalBudget":2200000, "businessUnit":"Audit &amp; Assurance" 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201 { "id":9, "code":"CC-AUDIT-110", "totalBudget":"2200000",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  "committed":"0", "source":"simulated"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/api/workday/cost-centers/:id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Edit cost center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/api/workday/cost-centers/9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"committed":480000 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"id":9, "code":"CC-AUDIT-110", "committed":"480000",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"lastSyncedAt":"2026-04-17T14:11Z" 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(4/5)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31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/api/workday/cost-centers/:id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Delete cost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DELETE /api/workday/cost-centers/9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"ok":true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Create worker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/api/workday/workers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"name":"Maya Ito", "roleName":"Senior Consultant",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"region":"West", "weeklyCapacityHours":40, "availableHours":160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201 { "id":31, "employeeNumber":"EMP-010031", "name":"Maya Ito",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  "roleName":"Senior Consultant", "availableHours":"160"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/api/workday/workers/:id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Edit worker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/api/workday/workers/31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"availableHours":120 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"id":31, "availableHours":"120",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"lastSyncedAt":"2026-04-17T14:13Z"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/api/workday/workers/:id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Remove worker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DELETE /api/workday/workers/31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"ok":true 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Internal endpoint request + response (5/5)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32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/api/workday/rate-card/:id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Update standard cost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PATCH /api/workday/rate-card/3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"standardCostRate":210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"id":3, "roleName":"Senior Manager",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"standardCostRate":"210", "effectiveDate":"2025-07-01"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1732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150876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48132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/api/workday/deals/:dealId/validate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180136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Run validation for a deal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209397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/api/workday/deals/87/validate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"userName":"Sarah Chen"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92150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"ok":false, "status":"staffing_shortfall",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"validationId":412, "summary":"Staffing shortfall: 240h",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"findings":[ {"findingType":"staffing","severity":"blocker"} ] 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/api/workday/deals/:dealId/link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Link / unlink deal ↔ cost center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/api/workday/deals/87/link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"costCenterId":4, "userName":"Sarah Chen" 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"ok":true,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"costCenter":{ "id":4, "code":"CC-ADV-400",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                "name":"Advisory Services" }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023360"/>
            <a:ext cx="5592927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4447" y="4114800"/>
            <a:ext cx="640080" cy="256032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087368"/>
            <a:ext cx="47242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/api/workday/validations/:id/override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4407408"/>
            <a:ext cx="5410047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Override blocking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4700016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POST /api/workday/validations/412/override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"justification":"Senior Cons backfill via partner firm",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"userName":"Lisa Park", "role":"fin" 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5527548"/>
            <a:ext cx="5410047" cy="736092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"id":412, "status":"staffing_shortfall",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"overriddenBy":"Lisa Park",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"overrideJustification":"Senior Cons backfill via partner firm",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"overriddenAt":"2026-04-17T14:18Z" 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PRODUCTION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Equivalent Workday REST + SOAP calls (representative routes)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33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C6673"/>
                </a:solidFill>
                <a:latin typeface="Calibri"/>
              </a:rPr>
              <a:t>REST base: /ccx/api/{service}/v{n}/{tenant}/  ·  SOAP: /ccx/service/{tenant}/{service}/v{n}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GET /api/workday/cost-centers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/ccx/api/financialManagement/v1/{tenant}/costCenters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Authorization: Bearer eyJraWQ...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"data":[ { "id":"8e1b", "code":"CC-CONS-300",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"name":"Technology Consulting", "totalBudget":6200000,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"committed":5950000 } ]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69164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7" y="176479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GET /api/workday/workers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447" y="214884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GET /ccx/api/staffing/v6/{tenant}/workers?limit=100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Authorization: Bearer eyJraWQ...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30175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{ "data":[ { "id":"abc", "workerId":"EMP-010011",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"primaryWorkEmail":"erin.walsh@armanino.com",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"position":{"jobProfile":"Senior Consultant"} } ]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3367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PATCH /api/workday/rate-card/:id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SOAP Put_Compensation_Plan_Request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&lt;wd:Plan_Reference Descriptor="Senior Manager"/&gt;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&lt;wd:Plan_Data&gt;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&lt;wd:Standard_Hourly_Cost_Rate&gt;210&lt;/wd:...&gt;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&lt;wd:Effective_Date&gt;2026-04-17&lt;/wd:...&gt;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&lt;/wd:Plan_Data&gt;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&lt;wd:Put_Compensation_Plan_Response&gt;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&lt;wd:Compensation_Plan_Reference WID="3f..."/&gt;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&lt;/wd:Put_Compensation_Plan_Response&gt;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416052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447" y="423367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POST /api/workday/workers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46177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SOAP Hire_Employee_Request  (Staffing v40+)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&lt;wd:Personal_Data&gt;&lt;wd:Name_Data&gt;Maya Ito&lt;/wd:...&gt;&lt;/...&gt;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&lt;wd:Position_Reference Descriptor="P-00531"/&gt;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548640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&lt;wd:Hire_Employee_Response&gt;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&lt;wd:Employee_Reference WID="7c2..."/&gt;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&lt;/wd:Hire_Employee_Response&gt;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WORKDAY · PRODUCTION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22B4A"/>
                </a:solidFill>
                <a:latin typeface="Calibri"/>
              </a:rPr>
              <a:t>Equivalent Workday REST + SOAP calls (representative routes)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34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Integrations API Overview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C6673"/>
                </a:solidFill>
                <a:latin typeface="Calibri"/>
              </a:rPr>
              <a:t>REST base: /ccx/api/{service}/v{n}/{tenant}/  ·  SOAP: /ccx/service/{tenant}/{service}/v{n}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592927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9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541004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22B4A"/>
                </a:solidFill>
                <a:latin typeface="Consolas"/>
              </a:rPr>
              <a:t>POST /api/workday/deals/:dealId/validate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Composite (read-only):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GET /financialManagement/v1/{tenant}/costCenters/{id}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GET /staffing/v6/{tenant}/workers?role=...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GET /compensation/v1/{tenant}/compensationPlans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10047" cy="7772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>
                <a:solidFill>
                  <a:srgbClr val="ECE6D0"/>
                </a:solidFill>
                <a:latin typeface="Consolas"/>
              </a:rPr>
              <a:t>DealPad rules engine returns: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{ "ok":false, "status":"staffing_shortfall",</a:t>
            </a:r>
          </a:p>
          <a:p>
            <a:r>
              <a:rPr sz="1000">
                <a:solidFill>
                  <a:srgbClr val="ECE6D0"/>
                </a:solidFill>
                <a:latin typeface="Consolas"/>
              </a:rPr>
              <a:t>  "findings":[...]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