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9525">
            <a:solidFill>
              <a:srgbClr val="F6F8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F2A4A"/>
                </a:solidFill>
                <a:latin typeface="Calibri"/>
              </a:rPr>
              <a:t>DealPad Integrations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56B82"/>
                </a:solidFill>
                <a:latin typeface="Calibri"/>
              </a:rPr>
              <a:t>How DealPad connects to the Quote-to-Cash stack — bi-directional with every system except Power BI (read-only).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985455" y="402336"/>
            <a:ext cx="365760" cy="0"/>
          </a:xfrm>
          <a:prstGeom prst="line">
            <a:avLst/>
          </a:prstGeom>
          <a:ln w="22225">
            <a:solidFill>
              <a:srgbClr val="0F2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96935" y="310896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2B3C"/>
                </a:solidFill>
                <a:latin typeface="Calibri"/>
              </a:rPr>
              <a:t>Outbound from DealPad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997135" y="402336"/>
            <a:ext cx="365760" cy="0"/>
          </a:xfrm>
          <a:prstGeom prst="line">
            <a:avLst/>
          </a:prstGeom>
          <a:ln w="15875">
            <a:solidFill>
              <a:srgbClr val="8A9BB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08615" y="310896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2B3C"/>
                </a:solidFill>
                <a:latin typeface="Calibri"/>
              </a:rPr>
              <a:t>Inbound to DealPad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078992"/>
            <a:ext cx="11277295" cy="566928"/>
          </a:xfrm>
          <a:prstGeom prst="roundRect">
            <a:avLst>
              <a:gd name="adj" fmla="val 25000"/>
            </a:avLst>
          </a:prstGeom>
          <a:solidFill>
            <a:srgbClr val="0F2A4A"/>
          </a:solidFill>
          <a:ln w="12700">
            <a:solidFill>
              <a:srgbClr val="0A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0" bIns="0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DealPad</a:t>
            </a:r>
            <a:r>
              <a:rPr sz="1100">
                <a:solidFill>
                  <a:srgbClr val="CBDAEE"/>
                </a:solidFill>
                <a:latin typeface="Calibri"/>
              </a:rPr>
              <a:t>    Pricing &amp; Scoping 2.0 hub  •  Express.js API  •  PostgreSQL  •  AI services  •  RBAC + audit log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41038" y="1645920"/>
            <a:ext cx="0" cy="41148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2057400"/>
            <a:ext cx="2167676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7200" y="2057400"/>
            <a:ext cx="2167676" cy="566928"/>
          </a:xfrm>
          <a:prstGeom prst="roundRect">
            <a:avLst>
              <a:gd name="adj" fmla="val 4000"/>
            </a:avLst>
          </a:prstGeom>
          <a:solidFill>
            <a:srgbClr val="0078D4"/>
          </a:solidFill>
          <a:ln w="95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54864" bIns="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Dynamics 365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F0F4FA"/>
                </a:solidFill>
                <a:latin typeface="Calibri"/>
              </a:rPr>
              <a:t>CRM • opportunity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59736"/>
            <a:ext cx="2167676" cy="164592"/>
          </a:xfrm>
          <a:prstGeom prst="rect">
            <a:avLst/>
          </a:prstGeom>
          <a:solidFill>
            <a:srgbClr val="0078D4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555028" y="216712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078D4"/>
                </a:solidFill>
                <a:latin typeface="Calibri"/>
              </a:rPr>
              <a:t>BI-DIRECTIONAL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752344"/>
            <a:ext cx="18384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8D4"/>
                </a:solidFill>
                <a:latin typeface="Calibri"/>
              </a:rPr>
              <a:t>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898648"/>
            <a:ext cx="18384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3C"/>
                </a:solidFill>
                <a:latin typeface="Calibri"/>
              </a:rPr>
              <a:t>Opportunity sync + outcome push on every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429000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2A4A"/>
                </a:solidFill>
                <a:latin typeface="Calibri"/>
              </a:rPr>
              <a:t>→  OUTBOUND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593592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Status, fee, cost, margin %,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886200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autoPushDeal() on every approval transition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178808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8D4"/>
                </a:solidFill>
                <a:latin typeface="Calibri"/>
              </a:rPr>
              <a:t>←  INBOUND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343400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Accounts, opportunities, contacts,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636008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On deal create + manual refresh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" y="4965192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5056632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8D4"/>
                </a:solidFill>
                <a:latin typeface="Calibri"/>
              </a:rPr>
              <a:t>TECH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221224"/>
            <a:ext cx="18384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2B3C"/>
                </a:solidFill>
                <a:latin typeface="Calibri"/>
              </a:rPr>
              <a:t>Dataverse Web API v9.2  •  OAuth 2.0  •  REST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" y="5678424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5769864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8D4"/>
                </a:solidFill>
                <a:latin typeface="Calibri"/>
              </a:rPr>
              <a:t>BUSINESS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5934456"/>
            <a:ext cx="18384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Every deal anchored to a Dynamics opportunity — opportunity stage and revenue auto-update on Approved / Lost / Withdrawn.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18442" y="1645920"/>
            <a:ext cx="0" cy="411480"/>
          </a:xfrm>
          <a:prstGeom prst="line">
            <a:avLst/>
          </a:prstGeom>
          <a:ln w="19050">
            <a:solidFill>
              <a:srgbClr val="008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734604" y="2057400"/>
            <a:ext cx="2167676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734604" y="2057400"/>
            <a:ext cx="2167676" cy="566928"/>
          </a:xfrm>
          <a:prstGeom prst="roundRect">
            <a:avLst>
              <a:gd name="adj" fmla="val 4000"/>
            </a:avLst>
          </a:prstGeom>
          <a:solidFill>
            <a:srgbClr val="0086A8"/>
          </a:solidFill>
          <a:ln w="9525">
            <a:solidFill>
              <a:srgbClr val="008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54864" bIns="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Workday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F0F4FA"/>
                </a:solidFill>
                <a:latin typeface="Calibri"/>
              </a:rPr>
              <a:t>Budget • resourcing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34604" y="2459736"/>
            <a:ext cx="2167676" cy="164592"/>
          </a:xfrm>
          <a:prstGeom prst="rect">
            <a:avLst/>
          </a:prstGeom>
          <a:solidFill>
            <a:srgbClr val="0086A8"/>
          </a:solidFill>
          <a:ln>
            <a:solidFill>
              <a:srgbClr val="0086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832433" y="216712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086A8"/>
                </a:solidFill>
                <a:latin typeface="Calibri"/>
              </a:rPr>
              <a:t>BI-DIRECTIONAL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99196" y="2752344"/>
            <a:ext cx="18384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86A8"/>
                </a:solidFill>
                <a:latin typeface="Calibri"/>
              </a:rPr>
              <a:t>CAPABILITY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9196" y="2898648"/>
            <a:ext cx="18384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3C"/>
                </a:solidFill>
                <a:latin typeface="Calibri"/>
              </a:rPr>
              <a:t>Validation gate + project create + budget reserve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9196" y="3429000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2A4A"/>
                </a:solidFill>
                <a:latin typeface="Calibri"/>
              </a:rPr>
              <a:t>→  OUTBOUND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99196" y="3593592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Project record + committed-budget reserve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9196" y="3886200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autoPushWorkdayProject() on Approved (transactional sentinel)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9196" y="4178808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86A8"/>
                </a:solidFill>
                <a:latin typeface="Calibri"/>
              </a:rPr>
              <a:t>←  INBOUND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99196" y="4343400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Cost centers, workers, rate cards by skill/grade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99196" y="4636008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Nightly sync + on-demand during scoping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99196" y="4965192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899196" y="5056632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86A8"/>
                </a:solidFill>
                <a:latin typeface="Calibri"/>
              </a:rPr>
              <a:t>TECH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99196" y="5221224"/>
            <a:ext cx="18384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2B3C"/>
                </a:solidFill>
                <a:latin typeface="Calibri"/>
              </a:rPr>
              <a:t>REST + SOAP  •  FM • Staffing • Comp  •  ISU / OAuth 2.0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899196" y="5678424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899196" y="5769864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86A8"/>
                </a:solidFill>
                <a:latin typeface="Calibri"/>
              </a:rPr>
              <a:t>BUSINESS CONTEXT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99196" y="5934456"/>
            <a:ext cx="18384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Rate cards drive the pricing grid; submission blocked on rate variance, budget headroom, or staffing shortfall (override needs Finance/SLL justification).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095847" y="1645920"/>
            <a:ext cx="0" cy="4114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012009" y="2057400"/>
            <a:ext cx="2167676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5012009" y="2057400"/>
            <a:ext cx="2167676" cy="566928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54864" bIns="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Conga CLM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F0F4FA"/>
                </a:solidFill>
                <a:latin typeface="Calibri"/>
              </a:rPr>
              <a:t>Engagement letters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12009" y="2459736"/>
            <a:ext cx="2167676" cy="164592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6109837" y="216712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C0392B"/>
                </a:solidFill>
                <a:latin typeface="Calibri"/>
              </a:rPr>
              <a:t>BI-DIRECTIONAL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76601" y="2752344"/>
            <a:ext cx="18384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CAPABILITY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76601" y="2898648"/>
            <a:ext cx="18384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3C"/>
                </a:solidFill>
                <a:latin typeface="Calibri"/>
              </a:rPr>
              <a:t>Template letters + e-sign delivery + status reconcile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76601" y="3429000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2A4A"/>
                </a:solidFill>
                <a:latin typeface="Calibri"/>
              </a:rPr>
              <a:t>→  OUTBOUND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76601" y="3593592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Letter generation + delivery request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76601" y="3886200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Auto on Approved + manual 'Generate Letter'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76601" y="4178808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←  INBOUND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76601" y="4343400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Delivery status (sent / signed / delivered)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76601" y="4636008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Webhook + polling on outstanding letters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176601" y="4965192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176601" y="5056632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TECH STACK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76601" y="5221224"/>
            <a:ext cx="18384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2B3C"/>
                </a:solidFill>
                <a:latin typeface="Calibri"/>
              </a:rPr>
              <a:t>Conga REST API  •  DocuSign / Adobe Sign  •  Email / portal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176601" y="5678424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176601" y="5769864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BUSINESS CONTEXT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76601" y="5934456"/>
            <a:ext cx="18384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Sales closure: approved deal becomes a governed engagement letter in seconds; engagement_letters row flips to 'delivered' once client signs.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373252" y="1645920"/>
            <a:ext cx="0" cy="411480"/>
          </a:xfrm>
          <a:prstGeom prst="line">
            <a:avLst/>
          </a:prstGeom>
          <a:ln w="1905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289413" y="2057400"/>
            <a:ext cx="2167676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7289413" y="2057400"/>
            <a:ext cx="2167676" cy="566928"/>
          </a:xfrm>
          <a:prstGeom prst="roundRect">
            <a:avLst>
              <a:gd name="adj" fmla="val 4000"/>
            </a:avLst>
          </a:prstGeom>
          <a:solidFill>
            <a:srgbClr val="6B3FA0"/>
          </a:solidFill>
          <a:ln w="9525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54864" bIns="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Intapp Risk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F0F4FA"/>
                </a:solidFill>
                <a:latin typeface="Calibri"/>
              </a:rPr>
              <a:t>Conflicts • independence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89413" y="2459736"/>
            <a:ext cx="2167676" cy="164592"/>
          </a:xfrm>
          <a:prstGeom prst="rect">
            <a:avLst/>
          </a:prstGeom>
          <a:solidFill>
            <a:srgbClr val="6B3FA0"/>
          </a:solidFill>
          <a:ln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8387242" y="216712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6B3FA0"/>
                </a:solidFill>
                <a:latin typeface="Calibri"/>
              </a:rPr>
              <a:t>BI-DIRECTIONAL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54005" y="2752344"/>
            <a:ext cx="18384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3FA0"/>
                </a:solidFill>
                <a:latin typeface="Calibri"/>
              </a:rPr>
              <a:t>CAPABILITY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4005" y="2898648"/>
            <a:ext cx="18384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3C"/>
                </a:solidFill>
                <a:latin typeface="Calibri"/>
              </a:rPr>
              <a:t>Conflict / independence screening + outcome push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4005" y="3429000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2A4A"/>
                </a:solidFill>
                <a:latin typeface="Calibri"/>
              </a:rPr>
              <a:t>→  OUTBOUND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54005" y="3593592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Mitigation decisions + final deal outcome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54005" y="3886200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On resolve/waive/reject + autoPushIntappOutcome()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54005" y="4178808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3FA0"/>
                </a:solidFill>
                <a:latin typeface="Calibri"/>
              </a:rPr>
              <a:t>←  INBOUND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54005" y="4343400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Screening results, mitigation hits, severity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54005" y="4636008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On deal create / client change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454005" y="4965192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454005" y="5056632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3FA0"/>
                </a:solidFill>
                <a:latin typeface="Calibri"/>
              </a:rPr>
              <a:t>TECH STACK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54005" y="5221224"/>
            <a:ext cx="18384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2B3C"/>
                </a:solidFill>
                <a:latin typeface="Calibri"/>
              </a:rPr>
              <a:t>Intapp Risk REST API  •  Conflicts + Independence  •  OAuth 2.0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454005" y="5678424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454005" y="5769864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3FA0"/>
                </a:solidFill>
                <a:latin typeface="Calibri"/>
              </a:rPr>
              <a:t>BUSINESS CONTEXT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54005" y="5934456"/>
            <a:ext cx="18384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Risk gate: no approval while open hits remain. Engagement onboarding opens in Intapp the moment DealPad approves the deal.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650656" y="1645920"/>
            <a:ext cx="0" cy="411480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9566818" y="2057400"/>
            <a:ext cx="2167676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9566818" y="2057400"/>
            <a:ext cx="2167676" cy="566928"/>
          </a:xfrm>
          <a:prstGeom prst="roundRect">
            <a:avLst>
              <a:gd name="adj" fmla="val 4000"/>
            </a:avLst>
          </a:prstGeom>
          <a:solidFill>
            <a:srgbClr val="C9A227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46304" tIns="54864" bIns="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Power BI</a:t>
            </a:r>
          </a:p>
          <a:p>
            <a:pPr algn="l">
              <a:spcBef>
                <a:spcPts val="0"/>
              </a:spcBef>
            </a:pPr>
            <a:r>
              <a:rPr sz="900" i="1">
                <a:solidFill>
                  <a:srgbClr val="F0F4FA"/>
                </a:solidFill>
                <a:latin typeface="Calibri"/>
              </a:rPr>
              <a:t>Analytics • benchmarks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66818" y="2459736"/>
            <a:ext cx="2167676" cy="164592"/>
          </a:xfrm>
          <a:prstGeom prst="rect">
            <a:avLst/>
          </a:prstGeom>
          <a:solidFill>
            <a:srgbClr val="C9A227"/>
          </a:solidFill>
          <a:ln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10664647" y="2167128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C9A227"/>
                </a:solidFill>
                <a:latin typeface="Calibri"/>
              </a:rPr>
              <a:t>ONE-WAY (READ)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31410" y="2752344"/>
            <a:ext cx="18384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Calibri"/>
              </a:rPr>
              <a:t>CAPABILITY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31410" y="2898648"/>
            <a:ext cx="18384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3C"/>
                </a:solidFill>
                <a:latin typeface="Calibri"/>
              </a:rPr>
              <a:t>Executive dashboards + margin benchmarks + DealPad-vs-Workday actuals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31410" y="3429000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F2A4A"/>
                </a:solidFill>
                <a:latin typeface="Calibri"/>
              </a:rPr>
              <a:t>→  OUTBOUND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1410" y="3593592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—  (Power BI is read-only)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1410" y="3886200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31410" y="4178808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B7B8C"/>
                </a:solidFill>
                <a:latin typeface="Calibri"/>
              </a:rPr>
              <a:t>←  INBOUND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731410" y="4343400"/>
            <a:ext cx="18384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Deals, scope, pricing, scenarios, approvals, sync events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31410" y="4636008"/>
            <a:ext cx="1838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B8C"/>
                </a:solidFill>
                <a:latin typeface="Calibri"/>
              </a:rPr>
              <a:t>Hourly DirectQuery + nightly scheduled refresh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731410" y="4965192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731410" y="5056632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Calibri"/>
              </a:rPr>
              <a:t>TECH STACK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31410" y="5221224"/>
            <a:ext cx="18384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A2B3C"/>
                </a:solidFill>
                <a:latin typeface="Calibri"/>
              </a:rPr>
              <a:t>Power BI Service  •  DirectQuery + Refresh  •  RLS via persona claims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9731410" y="5678424"/>
            <a:ext cx="1838492" cy="0"/>
          </a:xfrm>
          <a:prstGeom prst="line">
            <a:avLst/>
          </a:prstGeom>
          <a:ln w="6350">
            <a:solidFill>
              <a:srgbClr val="E3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731410" y="5769864"/>
            <a:ext cx="18384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C9A227"/>
                </a:solidFill>
                <a:latin typeface="Calibri"/>
              </a:rPr>
              <a:t>BUSINESS CONTEXT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31410" y="5934456"/>
            <a:ext cx="183849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2B3C"/>
                </a:solidFill>
                <a:latin typeface="Calibri"/>
              </a:rPr>
              <a:t>Pipeline &amp; forecast, cycle-time analytics (opportunity → approved → signed), and the benchmark feed for the AI margin advisor.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" y="6510528"/>
            <a:ext cx="10362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7B8C"/>
                </a:solidFill>
                <a:latin typeface="Calibri"/>
              </a:rPr>
              <a:t>DealPad Integrations Architecture  •  Pricing &amp; Scoping 2.0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728655" y="65105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7B8C"/>
                </a:solidFill>
                <a:latin typeface="Calibr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