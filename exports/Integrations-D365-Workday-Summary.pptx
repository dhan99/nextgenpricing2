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INTEGRATION · MICROSOFT DYNAMICS 365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122B4A"/>
                </a:solidFill>
                <a:latin typeface="Calibri"/>
              </a:rPr>
              <a:t>CRM system of record for accounts and the opportunity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1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D365 + Workday Summary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42E"/>
                </a:solidFill>
                <a:latin typeface="Calibri"/>
              </a:rPr>
              <a:t>•  Inbound: pulls accounts and opportunities so DealPad can scope from real pipeline.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42E"/>
                </a:solidFill>
                <a:latin typeface="Calibri"/>
              </a:rPr>
              <a:t>•  Outbound: pushes fee, stage, probability and forecast back on every deal change.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APIS · DEALPAD → DATAVERSE WEB API V9.2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60320"/>
          <a:ext cx="5486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 /api/dynamics/opportunities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/opportunities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POST /api/dynamics/opportunities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POST /opportunities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POST /api/dynamics/deals/:dealId/push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PATCH /opportunities({opportunityid})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POST /api/dynamics/sync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Bulk GET/PATCH (use $batch)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 /api/dynamics/pipeline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/opportunities ?$select=…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1F242E"/>
                </a:solidFill>
                <a:latin typeface="Calibri"/>
              </a:rPr>
              <a:t>•  Provider pattern: SimulatedDynamicsProvider today → LiveDynamicsProvider at cutover, no route changes.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F242E"/>
                </a:solidFill>
                <a:latin typeface="Calibri"/>
              </a:rPr>
              <a:t>•  Triggers: outbound auto-push on stage / fee / margin change; inbound nightly batch + on-demand pull.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F242E"/>
                </a:solidFill>
                <a:latin typeface="Calibri"/>
              </a:rPr>
              <a:t>•  Auth: OAuth 2.0 client-credentials via Azure AD (token → login.microsoftonline.com), audited in dynamics_sync_log.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SAMPLE · CREATE OPPORTUNITY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68296"/>
            <a:ext cx="5486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2B4A"/>
                </a:solidFill>
                <a:latin typeface="Calibri"/>
              </a:rPr>
              <a:t>Request — DealPad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06040"/>
            <a:ext cx="5486400" cy="16916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>
                <a:solidFill>
                  <a:srgbClr val="ECE6D0"/>
                </a:solidFill>
                <a:latin typeface="Consolas"/>
              </a:rPr>
              <a:t>POST /api/dynamics/opportunities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Content-Type: application/json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"accountId": 42,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"name": "Crestwood Holdings - 2026 Audit",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"estimatedValue": 412000,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"stage": "Qualify"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334256"/>
            <a:ext cx="5486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2B4A"/>
                </a:solidFill>
                <a:latin typeface="Calibri"/>
              </a:rPr>
              <a:t>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572000"/>
            <a:ext cx="5486400" cy="178308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"id": 137,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"opportunityNumber": "OPP-100204",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"estimatedValue": 412000,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"stage": "Qualify",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"probability": 20,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"forecastCategory": "Pipeline",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"syncStatus": "queued"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C2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00584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INTEGRATION · WORKDAY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"/>
            <a:ext cx="11247120" cy="5486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200" b="1">
                <a:solidFill>
                  <a:srgbClr val="122B4A"/>
                </a:solidFill>
                <a:latin typeface="Calibri"/>
              </a:rPr>
              <a:t>Source of truth for budgets, worker availability and standard cost rates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097280" cy="20000"/>
          </a:xfrm>
          <a:prstGeom prst="rect">
            <a:avLst/>
          </a:prstGeom>
          <a:solidFill>
            <a:srgbClr val="12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0" y="6492240"/>
            <a:ext cx="13716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0">
                <a:solidFill>
                  <a:srgbClr val="5C6673"/>
                </a:solidFill>
                <a:latin typeface="Calibri"/>
              </a:rPr>
              <a:t>2 /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0">
                <a:solidFill>
                  <a:srgbClr val="5C6673"/>
                </a:solidFill>
                <a:latin typeface="Calibri"/>
              </a:rPr>
              <a:t>DealPad · D365 + Workday Summary · April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1124712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300"/>
              </a:spcAft>
            </a:pPr>
            <a:r>
              <a:rPr sz="1100">
                <a:solidFill>
                  <a:srgbClr val="1F242E"/>
                </a:solidFill>
                <a:latin typeface="Calibri"/>
              </a:rPr>
              <a:t>•  Validates every deal save against cost-center budget, worker capacity and rate-card variance.</a:t>
            </a:r>
          </a:p>
          <a:p>
            <a:pPr>
              <a:spcAft>
                <a:spcPts val="300"/>
              </a:spcAft>
            </a:pPr>
            <a:r>
              <a:rPr sz="1100">
                <a:solidFill>
                  <a:srgbClr val="1F242E"/>
                </a:solidFill>
                <a:latin typeface="Calibri"/>
              </a:rPr>
              <a:t>•  Submission gate: over_budget or staffing_shortfall blocks unless Finance / Service Line Lead overrides with justification.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APIS · DEALPAD → WORKDAY REST + SOAP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2560320"/>
          <a:ext cx="548640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94560"/>
              </a:tblGrid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 /api/workday/cost-centers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/financialManagement/v1/{t}/costCenters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 /api/workday/workers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GET /staffing/v6/{t}/workers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PATCH /api/workday/rate-card/:id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SOAP Put_Compensation_Plan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POST /api/workday/deals/:id/validate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Composite: costCenters + workers + rules</a:t>
                      </a:r>
                    </a:p>
                  </a:txBody>
                  <a:tcPr marL="45720" marR="45720" marT="9144" marB="9144">
                    <a:solidFill>
                      <a:srgbClr val="F5F1E8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POST /api/workday/validations/:id/override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solidFill>
                            <a:srgbClr val="1F242E"/>
                          </a:solidFill>
                          <a:latin typeface="Consolas"/>
                        </a:rPr>
                        <a:t>DealPad audit (override fields)</a:t>
                      </a:r>
                    </a:p>
                  </a:txBody>
                  <a:tcPr marL="45720" marR="45720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79476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023360"/>
            <a:ext cx="5486400" cy="22860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1F242E"/>
                </a:solidFill>
                <a:latin typeface="Calibri"/>
              </a:rPr>
              <a:t>•  Provider pattern: SimulatedWorkdayProvider today → LiveWorkdayProvider at cutover, no route changes.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F242E"/>
                </a:solidFill>
                <a:latin typeface="Calibri"/>
              </a:rPr>
              <a:t>•  Triggers: auto-validate on save, gate at submit, push approved project (committed budget reservation).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1F242E"/>
                </a:solidFill>
                <a:latin typeface="Calibri"/>
              </a:rPr>
              <a:t>•  Auth: OAuth 2.0 ISU for REST (or Basic auth for legacy SOAP); audited in workday_events + workday_validations.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331720"/>
            <a:ext cx="548640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1">
                <a:solidFill>
                  <a:srgbClr val="C28A2A"/>
                </a:solidFill>
                <a:latin typeface="Calibri"/>
              </a:rPr>
              <a:t>SAMPLE · VALIDATE DEAL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2368296"/>
            <a:ext cx="5486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2B4A"/>
                </a:solidFill>
                <a:latin typeface="Calibri"/>
              </a:rPr>
              <a:t>Request — DealPad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06040"/>
            <a:ext cx="5486400" cy="169164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>
                <a:solidFill>
                  <a:srgbClr val="ECE6D0"/>
                </a:solidFill>
                <a:latin typeface="Consolas"/>
              </a:rPr>
              <a:t>POST /api/workday/deals/87/validate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Content-Type: application/json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{ "userName": "Sarah Chen" 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334256"/>
            <a:ext cx="5486400" cy="23774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900" b="1">
                <a:solidFill>
                  <a:srgbClr val="122B4A"/>
                </a:solidFill>
                <a:latin typeface="Calibri"/>
              </a:rPr>
              <a:t>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572000"/>
            <a:ext cx="5486400" cy="1783080"/>
          </a:xfrm>
          <a:prstGeom prst="rect">
            <a:avLst/>
          </a:prstGeom>
          <a:solidFill>
            <a:srgbClr val="1E2633"/>
          </a:solidFill>
          <a:ln>
            <a:solidFill>
              <a:srgbClr val="12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850">
                <a:solidFill>
                  <a:srgbClr val="ECE6D0"/>
                </a:solidFill>
                <a:latin typeface="Consolas"/>
              </a:rPr>
              <a:t>{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"ok": false,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"status": "staffing_shortfall",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"validationId": 412,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"summary": "Staffing shortfall: 240h.",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"findings": [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  { "findingType": "staffing", "severity": "blocker",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    "roleName": "Senior Consultant", "shortfallHours": 240 }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  ]</a:t>
            </a:r>
          </a:p>
          <a:p>
            <a:r>
              <a:rPr sz="850">
                <a:solidFill>
                  <a:srgbClr val="ECE6D0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