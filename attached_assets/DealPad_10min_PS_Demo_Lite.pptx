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73152" cy="68580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" y="548640"/>
            <a:ext cx="329184" cy="3291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54864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ALTIMETRIK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D9B8"/>
                </a:solidFill>
                <a:latin typeface="Calibri"/>
              </a:rPr>
              <a:t>for Armanino LLP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DealPad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FD9B8"/>
                </a:solidFill>
                <a:latin typeface="Calibri"/>
              </a:rPr>
              <a:t>Pricing &amp; Scoping 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023360"/>
            <a:ext cx="73152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1605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10-min stakeholder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262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C299"/>
                </a:solidFill>
                <a:latin typeface="Calibri"/>
              </a:rPr>
              <a:t>Product &amp; Solutioning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2880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6522"/>
                </a:solidFill>
                <a:latin typeface="Calibri"/>
              </a:rPr>
              <a:t>WHAT WE'LL SHOW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9456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F242C"/>
                </a:solidFill>
                <a:latin typeface="Calibri"/>
              </a:rPr>
              <a:t>A working pricing platform — intake to approval to outbound — built for the way Armanino actually sells.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4572000"/>
            <a:ext cx="2286000" cy="155448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4800600"/>
            <a:ext cx="32004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4937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418"/>
                </a:solidFill>
                <a:latin typeface="Calibri"/>
              </a:rPr>
              <a:t>Future-built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5349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Simulated today, live tomorrow.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4572000"/>
            <a:ext cx="2286000" cy="155448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4800600"/>
            <a:ext cx="32004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937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418"/>
                </a:solidFill>
                <a:latin typeface="Calibri"/>
              </a:rPr>
              <a:t>Defensible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349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ISO 42001 AIMS. RBAC. Audit 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4572000"/>
            <a:ext cx="2286000" cy="155448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4800600"/>
            <a:ext cx="32004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4937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418"/>
                </a:solidFill>
                <a:latin typeface="Calibri"/>
              </a:rPr>
              <a:t>Demonstrable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5349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Live app, not concept 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Pricing lives in spreadsheets. The moat leaks.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2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5532120" cy="4663440"/>
          </a:xfrm>
          <a:prstGeom prst="roundRect">
            <a:avLst>
              <a:gd name="adj" fmla="val 5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418"/>
                </a:solidFill>
                <a:latin typeface="Calibri"/>
              </a:rPr>
              <a:t>The reality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49834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Excel per BU. Tribal overrides.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No single source of pricing truth.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Risk + approvals reconciled by hand.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AI absent from the deal motion.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532120" cy="4663440"/>
          </a:xfrm>
          <a:prstGeom prst="roundRect">
            <a:avLst>
              <a:gd name="adj" fmla="val 5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745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418"/>
                </a:solidFill>
                <a:latin typeface="Calibri"/>
              </a:rPr>
              <a:t>The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68880"/>
            <a:ext cx="49834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Cycle time: days, not hours.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Margin leak from undocumented overrides.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Late, inconsistent risk checks.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—  </a:t>
            </a:r>
            <a:r>
              <a:rPr sz="1600">
                <a:solidFill>
                  <a:srgbClr val="1F242C"/>
                </a:solidFill>
                <a:latin typeface="Calibri"/>
              </a:rPr>
              <a:t>Cannot extend into the next AI use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DEALPAD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Four pillars. One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3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636443" cy="466344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26522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Intelligent intake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8036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63240"/>
            <a:ext cx="2179243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Auto-open Intapp Intake.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Conflict + sanctions + ethics in one pass.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Accept-gate before scoping.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7963" y="1554480"/>
            <a:ext cx="2636443" cy="466344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6563" y="1828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26522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6563" y="24231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Scoped pricing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96563" y="288036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6563" y="3063240"/>
            <a:ext cx="2179243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Roles × complexity multipliers.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Live margin recompute.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AI scenarios: Std / Premium /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6" y="1554480"/>
            <a:ext cx="2636443" cy="466344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1828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26522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24231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AI as teammate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6" y="288036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6" y="3063240"/>
            <a:ext cx="2179243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Five calibrated use cases.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Grounded in Armanino history.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Every output overridable + logged.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609" y="1554480"/>
            <a:ext cx="2636443" cy="466344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209" y="1828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26522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209" y="24231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Federated approvals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209" y="288036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209" y="3063240"/>
            <a:ext cx="2179243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Six-persona RBAC.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State-machine routing.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—  </a:t>
            </a:r>
            <a:r>
              <a:rPr sz="1300">
                <a:solidFill>
                  <a:srgbClr val="1F242C"/>
                </a:solidFill>
                <a:latin typeface="Calibri"/>
              </a:rPr>
              <a:t>Outbound on the right trigger.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DEMO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Four beats, in deal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88720" cy="365760"/>
          </a:xfrm>
          <a:prstGeom prst="rect">
            <a:avLst/>
          </a:prstGeom>
          <a:solidFill>
            <a:srgbClr val="FF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26522"/>
                </a:solidFill>
                <a:latin typeface="Calibri"/>
              </a:rPr>
              <a:t>1.5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745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Intake &amp; screening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3317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Create deal. Intapp opens. Risk clears.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80360"/>
            <a:ext cx="11094415" cy="9525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108960"/>
            <a:ext cx="1188720" cy="365760"/>
          </a:xfrm>
          <a:prstGeom prst="rect">
            <a:avLst/>
          </a:prstGeom>
          <a:solidFill>
            <a:srgbClr val="FF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26522"/>
                </a:solidFill>
                <a:latin typeface="Calibri"/>
              </a:rPr>
              <a:t>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0175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Scope &amp; AI scenarios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747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Build scope. Watch margin. Generate scenarios.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11094415" cy="9525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1188720" cy="365760"/>
          </a:xfrm>
          <a:prstGeom prst="rect">
            <a:avLst/>
          </a:prstGeom>
          <a:solidFill>
            <a:srgbClr val="FF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51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26522"/>
                </a:solidFill>
                <a:latin typeface="Calibri"/>
              </a:rPr>
              <a:t>2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1605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Approvals &amp;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6177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Submit. Route. Resolve mitigations.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094415" cy="9525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394960"/>
            <a:ext cx="1188720" cy="365760"/>
          </a:xfrm>
          <a:prstGeom prst="rect">
            <a:avLst/>
          </a:prstGeom>
          <a:solidFill>
            <a:srgbClr val="FF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26522"/>
                </a:solidFill>
                <a:latin typeface="Calibri"/>
              </a:rPr>
              <a:t>1.5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3035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Outbound integrations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7607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Approve. Fan-out fires.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309360"/>
            <a:ext cx="11094415" cy="9525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DEMO · BEAT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Intake &amp; screening — Intapp, two modules.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418"/>
                </a:solidFill>
                <a:latin typeface="Calibri"/>
              </a:rPr>
              <a:t>From New Deal to Cleared to Scope.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New deal → Intake auto-opens with the deal payload.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Ethics matrix triggers on long relationship + regulated industry.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Screening flags seven hit types. Severity-coded pills on the deal.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QRM owns mitigations. No finalize while any high-severity is open.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DEMO · BEAT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Scope and AI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6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418"/>
                </a:solidFill>
                <a:latin typeface="Calibri"/>
              </a:rPr>
              <a:t>Build the scope. Watch the numbers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Catalog-driven scope. Roles × complexity recompute live.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AI suggests comparables, effort, scenario shape — all overridable.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One click: Standard / Premium / Value with reasoning attached.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Margin floor is guarded. Breaches need a captured override.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DEMO · BEAT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Approvals, risk and mitigations.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STATE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418"/>
                </a:solidFill>
                <a:latin typeface="Calibri"/>
              </a:rPr>
              <a:t>Draft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09013" y="1965960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1933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1933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418"/>
                </a:solidFill>
                <a:latin typeface="Calibri"/>
              </a:rPr>
              <a:t>In review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2306" y="1965960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75226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5226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418"/>
                </a:solidFill>
                <a:latin typeface="Calibri"/>
              </a:rPr>
              <a:t>PDL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35599" y="1965960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519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8519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418"/>
                </a:solidFill>
                <a:latin typeface="Calibri"/>
              </a:rPr>
              <a:t>SLL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98892" y="1965960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01812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1812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418"/>
                </a:solidFill>
                <a:latin typeface="Calibri"/>
              </a:rPr>
              <a:t>FIN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362185" y="1965960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865105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5105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418"/>
                </a:solidFill>
                <a:latin typeface="Calibri"/>
              </a:rPr>
              <a:t>QRM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25478" y="1965960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528398" y="1783080"/>
            <a:ext cx="1114653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28398" y="1783080"/>
            <a:ext cx="111465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10896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Six gates. Only relevant approvers notified.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AI risk summary attached to the approval card.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Resolve a mitigation → push fires to Intapp instantly.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1">
                <a:solidFill>
                  <a:srgbClr val="F26522"/>
                </a:solidFill>
                <a:latin typeface="Calibri"/>
              </a:rPr>
              <a:t>—  </a:t>
            </a:r>
            <a:r>
              <a:rPr sz="1800">
                <a:solidFill>
                  <a:srgbClr val="1F242C"/>
                </a:solidFill>
                <a:latin typeface="Calibri"/>
              </a:rPr>
              <a:t>Approve → fan-out begins.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DEMO · BEAT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Outbound — fan-out on approval.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Each integration on its own trigger. Same code, sim or live.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2650159" cy="429768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2650159" cy="16459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2192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Dynamics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2192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Customer +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5A5"/>
                </a:solidFill>
                <a:latin typeface="Calibri"/>
              </a:rPr>
              <a:t>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219295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F242C"/>
                </a:solidFill>
                <a:latin typeface="Calibri"/>
              </a:rPr>
              <a:t>Approved or rejected.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3391" y="1920240"/>
            <a:ext cx="2650159" cy="429768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3391" y="1920240"/>
            <a:ext cx="2650159" cy="16459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1991" y="2331720"/>
            <a:ext cx="2192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Workday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1991" y="2971800"/>
            <a:ext cx="2192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Project + budget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1991" y="347472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5A5"/>
                </a:solidFill>
                <a:latin typeface="Calibri"/>
              </a:rPr>
              <a:t>TRIGGER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1991" y="3749040"/>
            <a:ext cx="219295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F242C"/>
                </a:solidFill>
                <a:latin typeface="Calibri"/>
              </a:rPr>
              <a:t>Approved only.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8142" y="1920240"/>
            <a:ext cx="2650159" cy="429768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2" y="1920240"/>
            <a:ext cx="2650159" cy="16459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6742" y="2331720"/>
            <a:ext cx="2192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Intapp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2" y="2971800"/>
            <a:ext cx="2192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Outcome + mitigation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2" y="347472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5A5"/>
                </a:solidFill>
                <a:latin typeface="Calibri"/>
              </a:rPr>
              <a:t>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2" y="3749040"/>
            <a:ext cx="219295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F242C"/>
                </a:solidFill>
                <a:latin typeface="Calibri"/>
              </a:rPr>
              <a:t>Outcome on approval/rejection. Mitigation on each event.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2893" y="1920240"/>
            <a:ext cx="2650159" cy="4297680"/>
          </a:xfrm>
          <a:prstGeom prst="roundRect">
            <a:avLst>
              <a:gd name="adj" fmla="val 6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92893" y="1920240"/>
            <a:ext cx="2650159" cy="16459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1493" y="2331720"/>
            <a:ext cx="2192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Conga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1493" y="2971800"/>
            <a:ext cx="2192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Letter generate + deliver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1493" y="347472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5A5"/>
                </a:solidFill>
                <a:latin typeface="Calibri"/>
              </a:rPr>
              <a:t>TRIGGER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1493" y="3749040"/>
            <a:ext cx="219295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F242C"/>
                </a:solidFill>
                <a:latin typeface="Calibri"/>
              </a:rPr>
              <a:t>User-initiated. Not approval-triggered.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Why this stack holds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9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45738" cy="4572000"/>
          </a:xfrm>
          <a:prstGeom prst="roundRect">
            <a:avLst>
              <a:gd name="adj" fmla="val 5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299709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Provider abstraction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Sim → live by config.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0040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2997098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F242C"/>
                </a:solidFill>
                <a:latin typeface="Calibri"/>
              </a:rPr>
              <a:t>Every integration behind a typed interface. Flip a flag to go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1691640"/>
            <a:ext cx="3545738" cy="4572000"/>
          </a:xfrm>
          <a:prstGeom prst="roundRect">
            <a:avLst>
              <a:gd name="adj" fmla="val 5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7298" y="2057400"/>
            <a:ext cx="299709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AIMS as moat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26974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ISO/IEC 42001, owned.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7298" y="320040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7298" y="3429000"/>
            <a:ext cx="2997098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F242C"/>
                </a:solidFill>
                <a:latin typeface="Calibri"/>
              </a:rPr>
              <a:t>Per-tenant evidence: model, lineage, monitoring, overrides.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691640"/>
            <a:ext cx="3545738" cy="4572000"/>
          </a:xfrm>
          <a:prstGeom prst="roundRect">
            <a:avLst>
              <a:gd name="adj" fmla="val 5000"/>
            </a:avLst>
          </a:prstGeom>
          <a:solidFill>
            <a:srgbClr val="F7F7F8"/>
          </a:solidFill>
          <a:ln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1636" y="2057400"/>
            <a:ext cx="299709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11418"/>
                </a:solidFill>
                <a:latin typeface="Calibri"/>
              </a:rPr>
              <a:t>Bounded contexts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1636" y="26974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Clean event seams.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1636" y="3200400"/>
            <a:ext cx="457200" cy="28575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1636" y="3429000"/>
            <a:ext cx="2997098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F242C"/>
                </a:solidFill>
                <a:latin typeface="Calibri"/>
              </a:rPr>
              <a:t>Approval emits events. Downstream contexts react. Agents subscribe later.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26522"/>
                </a:solidFill>
                <a:latin typeface="Calibri"/>
              </a:rPr>
              <a:t>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418"/>
                </a:solidFill>
                <a:latin typeface="Calibri"/>
              </a:rPr>
              <a:t>Three answers that re-shape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640080" cy="28575"/>
          </a:xfrm>
          <a:prstGeom prst="rect">
            <a:avLst/>
          </a:prstGeom>
          <a:solidFill>
            <a:srgbClr val="11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10 / 10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20240"/>
            <a:ext cx="868680" cy="86868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202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418"/>
                </a:solidFill>
                <a:latin typeface="Calibri"/>
              </a:rPr>
              <a:t>Pricing parity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68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alibri"/>
              </a:rPr>
              <a:t>Canonical Excel + sample I/O for the regression suite.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0400"/>
            <a:ext cx="868680" cy="86868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004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418"/>
                </a:solidFill>
                <a:latin typeface="Calibri"/>
              </a:rPr>
              <a:t>AI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490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alibri"/>
              </a:rPr>
              <a:t>Approved LLMs, hosting, data residency, allowed grounding.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480560"/>
            <a:ext cx="868680" cy="86868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4805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418"/>
                </a:solidFill>
                <a:latin typeface="Calibri"/>
              </a:rPr>
              <a:t>Platform 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alibri"/>
              </a:rPr>
              <a:t>Salesforce / Conga / Microsoft preferences or vetoes.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