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0" y="0"/>
            <a:ext cx="73152" cy="68580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4B5FD"/>
                </a:solidFill>
                <a:latin typeface="Calibri"/>
              </a:rPr>
              <a:t>ARMANINO LLP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37744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DealPad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38328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E9D5FF"/>
                </a:solidFill>
                <a:latin typeface="Calibri"/>
              </a:rPr>
              <a:t>Pricing &amp; Scoping 2.0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023360"/>
            <a:ext cx="731520" cy="28575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1605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10-min stakeholder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5262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C4B5FD"/>
                </a:solidFill>
                <a:latin typeface="Calibri"/>
              </a:rPr>
              <a:t>Product &amp; Solutioning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828800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28D9"/>
                </a:solidFill>
                <a:latin typeface="Calibri"/>
              </a:rPr>
              <a:t>WHAT WE'LL SHOW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94560"/>
            <a:ext cx="69494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1F2937"/>
                </a:solidFill>
                <a:latin typeface="Calibri"/>
              </a:rPr>
              <a:t>A working pricing platform — intake to approval to outbound — built for the way Armanino actually sells.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4572000"/>
            <a:ext cx="2286000" cy="15544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46320" y="4800600"/>
            <a:ext cx="320040" cy="28575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493776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Future-built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534924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Calibri"/>
              </a:rPr>
              <a:t>Simulated today, live tomorrow.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4572000"/>
            <a:ext cx="2286000" cy="15544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69480" y="4800600"/>
            <a:ext cx="320040" cy="28575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493776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Defensible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534924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Calibri"/>
              </a:rPr>
              <a:t>ISO 42001 AIMS. RBAC. Audit log.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60" y="4572000"/>
            <a:ext cx="2286000" cy="15544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92640" y="4800600"/>
            <a:ext cx="320040" cy="28575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493776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Demonstrable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534924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Calibri"/>
              </a:rPr>
              <a:t>Live app, not concept art.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8D9"/>
                </a:solidFill>
                <a:latin typeface="Calibri"/>
              </a:rPr>
              <a:t>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B1F3A"/>
                </a:solidFill>
                <a:latin typeface="Calibri"/>
              </a:rPr>
              <a:t>Pricing lives in spreadsheets. The moat leaks.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640080" cy="28575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B95A5"/>
                </a:solidFill>
                <a:latin typeface="Calibri"/>
              </a:rPr>
              <a:t>DealPad — NextGenApp Pricing &amp; Scoping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B95A5"/>
                </a:solidFill>
                <a:latin typeface="Calibri"/>
              </a:rPr>
              <a:t>2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532120" cy="46634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7452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B1F3A"/>
                </a:solidFill>
                <a:latin typeface="Calibri"/>
              </a:rPr>
              <a:t>The reality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49834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6D28D9"/>
                </a:solidFill>
                <a:latin typeface="Calibri"/>
              </a:rPr>
              <a:t>—  </a:t>
            </a:r>
            <a:r>
              <a:rPr sz="1600">
                <a:solidFill>
                  <a:srgbClr val="1F2937"/>
                </a:solidFill>
                <a:latin typeface="Calibri"/>
              </a:rPr>
              <a:t>Excel per BU. Tribal overrides.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6D28D9"/>
                </a:solidFill>
                <a:latin typeface="Calibri"/>
              </a:rPr>
              <a:t>—  </a:t>
            </a:r>
            <a:r>
              <a:rPr sz="1600">
                <a:solidFill>
                  <a:srgbClr val="1F2937"/>
                </a:solidFill>
                <a:latin typeface="Calibri"/>
              </a:rPr>
              <a:t>No single source of pricing truth.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6D28D9"/>
                </a:solidFill>
                <a:latin typeface="Calibri"/>
              </a:rPr>
              <a:t>—  </a:t>
            </a:r>
            <a:r>
              <a:rPr sz="1600">
                <a:solidFill>
                  <a:srgbClr val="1F2937"/>
                </a:solidFill>
                <a:latin typeface="Calibri"/>
              </a:rPr>
              <a:t>Risk + approvals reconciled by hand.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6D28D9"/>
                </a:solidFill>
                <a:latin typeface="Calibri"/>
              </a:rPr>
              <a:t>—  </a:t>
            </a:r>
            <a:r>
              <a:rPr sz="1600">
                <a:solidFill>
                  <a:srgbClr val="1F2937"/>
                </a:solidFill>
                <a:latin typeface="Calibri"/>
              </a:rPr>
              <a:t>AI absent from the deal motion.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554480"/>
            <a:ext cx="5532120" cy="46634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87452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B1F3A"/>
                </a:solidFill>
                <a:latin typeface="Calibri"/>
              </a:rPr>
              <a:t>The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468880"/>
            <a:ext cx="49834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6D28D9"/>
                </a:solidFill>
                <a:latin typeface="Calibri"/>
              </a:rPr>
              <a:t>—  </a:t>
            </a:r>
            <a:r>
              <a:rPr sz="1600">
                <a:solidFill>
                  <a:srgbClr val="1F2937"/>
                </a:solidFill>
                <a:latin typeface="Calibri"/>
              </a:rPr>
              <a:t>Cycle time: days, not hours.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6D28D9"/>
                </a:solidFill>
                <a:latin typeface="Calibri"/>
              </a:rPr>
              <a:t>—  </a:t>
            </a:r>
            <a:r>
              <a:rPr sz="1600">
                <a:solidFill>
                  <a:srgbClr val="1F2937"/>
                </a:solidFill>
                <a:latin typeface="Calibri"/>
              </a:rPr>
              <a:t>Margin leak from undocumented overrides.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6D28D9"/>
                </a:solidFill>
                <a:latin typeface="Calibri"/>
              </a:rPr>
              <a:t>—  </a:t>
            </a:r>
            <a:r>
              <a:rPr sz="1600">
                <a:solidFill>
                  <a:srgbClr val="1F2937"/>
                </a:solidFill>
                <a:latin typeface="Calibri"/>
              </a:rPr>
              <a:t>Late, inconsistent risk checks.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6D28D9"/>
                </a:solidFill>
                <a:latin typeface="Calibri"/>
              </a:rPr>
              <a:t>—  </a:t>
            </a:r>
            <a:r>
              <a:rPr sz="1600">
                <a:solidFill>
                  <a:srgbClr val="1F2937"/>
                </a:solidFill>
                <a:latin typeface="Calibri"/>
              </a:rPr>
              <a:t>Cannot extend into the next AI use case.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8D9"/>
                </a:solidFill>
                <a:latin typeface="Calibri"/>
              </a:rPr>
              <a:t>DEALPAD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B1F3A"/>
                </a:solidFill>
                <a:latin typeface="Calibri"/>
              </a:rPr>
              <a:t>Four pillars. One platform.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640080" cy="28575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B95A5"/>
                </a:solidFill>
                <a:latin typeface="Calibri"/>
              </a:rPr>
              <a:t>DealPad — NextGenApp Pricing &amp; Scoping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B95A5"/>
                </a:solidFill>
                <a:latin typeface="Calibri"/>
              </a:rPr>
              <a:t>3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2636443" cy="466344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6D28D9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23160"/>
            <a:ext cx="217924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Intelligent intake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80360"/>
            <a:ext cx="457200" cy="28575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63240"/>
            <a:ext cx="2179243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1">
                <a:solidFill>
                  <a:srgbClr val="6D28D9"/>
                </a:solidFill>
                <a:latin typeface="Calibri"/>
              </a:rPr>
              <a:t>—  </a:t>
            </a:r>
            <a:r>
              <a:rPr sz="1300">
                <a:solidFill>
                  <a:srgbClr val="1F2937"/>
                </a:solidFill>
                <a:latin typeface="Calibri"/>
              </a:rPr>
              <a:t>Auto-open Intapp Intake.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1">
                <a:solidFill>
                  <a:srgbClr val="6D28D9"/>
                </a:solidFill>
                <a:latin typeface="Calibri"/>
              </a:rPr>
              <a:t>—  </a:t>
            </a:r>
            <a:r>
              <a:rPr sz="1300">
                <a:solidFill>
                  <a:srgbClr val="1F2937"/>
                </a:solidFill>
                <a:latin typeface="Calibri"/>
              </a:rPr>
              <a:t>Conflict + sanctions + ethics in one pass.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1">
                <a:solidFill>
                  <a:srgbClr val="6D28D9"/>
                </a:solidFill>
                <a:latin typeface="Calibri"/>
              </a:rPr>
              <a:t>—  </a:t>
            </a:r>
            <a:r>
              <a:rPr sz="1300">
                <a:solidFill>
                  <a:srgbClr val="1F2937"/>
                </a:solidFill>
                <a:latin typeface="Calibri"/>
              </a:rPr>
              <a:t>Accept-gate before scoping.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7963" y="1554480"/>
            <a:ext cx="2636443" cy="466344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6563" y="182880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6D28D9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6563" y="2423160"/>
            <a:ext cx="217924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Scoped pricing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96563" y="2880360"/>
            <a:ext cx="457200" cy="28575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96563" y="3063240"/>
            <a:ext cx="2179243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1">
                <a:solidFill>
                  <a:srgbClr val="6D28D9"/>
                </a:solidFill>
                <a:latin typeface="Calibri"/>
              </a:rPr>
              <a:t>—  </a:t>
            </a:r>
            <a:r>
              <a:rPr sz="1300">
                <a:solidFill>
                  <a:srgbClr val="1F2937"/>
                </a:solidFill>
                <a:latin typeface="Calibri"/>
              </a:rPr>
              <a:t>Roles × complexity multipliers.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1">
                <a:solidFill>
                  <a:srgbClr val="6D28D9"/>
                </a:solidFill>
                <a:latin typeface="Calibri"/>
              </a:rPr>
              <a:t>—  </a:t>
            </a:r>
            <a:r>
              <a:rPr sz="1300">
                <a:solidFill>
                  <a:srgbClr val="1F2937"/>
                </a:solidFill>
                <a:latin typeface="Calibri"/>
              </a:rPr>
              <a:t>Live margin recompute.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1">
                <a:solidFill>
                  <a:srgbClr val="6D28D9"/>
                </a:solidFill>
                <a:latin typeface="Calibri"/>
              </a:rPr>
              <a:t>—  </a:t>
            </a:r>
            <a:r>
              <a:rPr sz="1300">
                <a:solidFill>
                  <a:srgbClr val="1F2937"/>
                </a:solidFill>
                <a:latin typeface="Calibri"/>
              </a:rPr>
              <a:t>AI scenarios: Std / Premium / Value.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7286" y="1554480"/>
            <a:ext cx="2636443" cy="466344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5886" y="182880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6D28D9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5886" y="2423160"/>
            <a:ext cx="217924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AI as teammate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15886" y="2880360"/>
            <a:ext cx="457200" cy="28575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5886" y="3063240"/>
            <a:ext cx="2179243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1">
                <a:solidFill>
                  <a:srgbClr val="6D28D9"/>
                </a:solidFill>
                <a:latin typeface="Calibri"/>
              </a:rPr>
              <a:t>—  </a:t>
            </a:r>
            <a:r>
              <a:rPr sz="1300">
                <a:solidFill>
                  <a:srgbClr val="1F2937"/>
                </a:solidFill>
                <a:latin typeface="Calibri"/>
              </a:rPr>
              <a:t>Five calibrated use cases.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1">
                <a:solidFill>
                  <a:srgbClr val="6D28D9"/>
                </a:solidFill>
                <a:latin typeface="Calibri"/>
              </a:rPr>
              <a:t>—  </a:t>
            </a:r>
            <a:r>
              <a:rPr sz="1300">
                <a:solidFill>
                  <a:srgbClr val="1F2937"/>
                </a:solidFill>
                <a:latin typeface="Calibri"/>
              </a:rPr>
              <a:t>Grounded in Armanino history.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1">
                <a:solidFill>
                  <a:srgbClr val="6D28D9"/>
                </a:solidFill>
                <a:latin typeface="Calibri"/>
              </a:rPr>
              <a:t>—  </a:t>
            </a:r>
            <a:r>
              <a:rPr sz="1300">
                <a:solidFill>
                  <a:srgbClr val="1F2937"/>
                </a:solidFill>
                <a:latin typeface="Calibri"/>
              </a:rPr>
              <a:t>Every output overridable + logged.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609" y="1554480"/>
            <a:ext cx="2636443" cy="466344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209" y="182880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6D28D9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209" y="2423160"/>
            <a:ext cx="217924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Federated approvals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209" y="2880360"/>
            <a:ext cx="457200" cy="28575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209" y="3063240"/>
            <a:ext cx="2179243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1">
                <a:solidFill>
                  <a:srgbClr val="6D28D9"/>
                </a:solidFill>
                <a:latin typeface="Calibri"/>
              </a:rPr>
              <a:t>—  </a:t>
            </a:r>
            <a:r>
              <a:rPr sz="1300">
                <a:solidFill>
                  <a:srgbClr val="1F2937"/>
                </a:solidFill>
                <a:latin typeface="Calibri"/>
              </a:rPr>
              <a:t>Six-persona RBAC.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1">
                <a:solidFill>
                  <a:srgbClr val="6D28D9"/>
                </a:solidFill>
                <a:latin typeface="Calibri"/>
              </a:rPr>
              <a:t>—  </a:t>
            </a:r>
            <a:r>
              <a:rPr sz="1300">
                <a:solidFill>
                  <a:srgbClr val="1F2937"/>
                </a:solidFill>
                <a:latin typeface="Calibri"/>
              </a:rPr>
              <a:t>State-machine routing.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1">
                <a:solidFill>
                  <a:srgbClr val="6D28D9"/>
                </a:solidFill>
                <a:latin typeface="Calibri"/>
              </a:rPr>
              <a:t>—  </a:t>
            </a:r>
            <a:r>
              <a:rPr sz="1300">
                <a:solidFill>
                  <a:srgbClr val="1F2937"/>
                </a:solidFill>
                <a:latin typeface="Calibri"/>
              </a:rPr>
              <a:t>Outbound on the right trigger.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8D9"/>
                </a:solidFill>
                <a:latin typeface="Calibri"/>
              </a:rPr>
              <a:t>DEMO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B1F3A"/>
                </a:solidFill>
                <a:latin typeface="Calibri"/>
              </a:rPr>
              <a:t>Four beats, in deal order.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640080" cy="28575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B95A5"/>
                </a:solidFill>
                <a:latin typeface="Calibri"/>
              </a:rPr>
              <a:t>DealPad — NextGenApp Pricing &amp; Scoping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B95A5"/>
                </a:solidFill>
                <a:latin typeface="Calibri"/>
              </a:rPr>
              <a:t>4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1188720" cy="365760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6D28D9"/>
                </a:solidFill>
                <a:latin typeface="Calibri"/>
              </a:rPr>
              <a:t>1.5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8745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Intake &amp; screening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3317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B5563"/>
                </a:solidFill>
                <a:latin typeface="Calibri"/>
              </a:rPr>
              <a:t>Create deal. Intapp opens. Risk clears.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80360"/>
            <a:ext cx="110944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108960"/>
            <a:ext cx="1188720" cy="365760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1089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6D28D9"/>
                </a:solidFill>
                <a:latin typeface="Calibri"/>
              </a:rPr>
              <a:t>2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30175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Scope &amp; AI scenarios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34747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B5563"/>
                </a:solidFill>
                <a:latin typeface="Calibri"/>
              </a:rPr>
              <a:t>Build scope. Watch margin. Generate scenarios.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23360"/>
            <a:ext cx="110944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251960"/>
            <a:ext cx="1188720" cy="365760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2519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6D28D9"/>
                </a:solidFill>
                <a:latin typeface="Calibri"/>
              </a:rPr>
              <a:t>2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41605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Approvals &amp;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46177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B5563"/>
                </a:solidFill>
                <a:latin typeface="Calibri"/>
              </a:rPr>
              <a:t>Submit. Route. Resolve mitigations.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166360"/>
            <a:ext cx="110944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394960"/>
            <a:ext cx="1188720" cy="365760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3949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6D28D9"/>
                </a:solidFill>
                <a:latin typeface="Calibri"/>
              </a:rPr>
              <a:t>1.5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53035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Outbound integrations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57607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B5563"/>
                </a:solidFill>
                <a:latin typeface="Calibri"/>
              </a:rPr>
              <a:t>Approve. Fan-out fires.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309360"/>
            <a:ext cx="110944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8D9"/>
                </a:solidFill>
                <a:latin typeface="Calibri"/>
              </a:rPr>
              <a:t>DEMO · BEAT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B1F3A"/>
                </a:solidFill>
                <a:latin typeface="Calibri"/>
              </a:rPr>
              <a:t>Intake &amp; screening — Intapp, two modules.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640080" cy="28575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B95A5"/>
                </a:solidFill>
                <a:latin typeface="Calibri"/>
              </a:rPr>
              <a:t>DealPad — NextGenApp Pricing &amp; Scoping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B95A5"/>
                </a:solidFill>
                <a:latin typeface="Calibri"/>
              </a:rPr>
              <a:t>5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0B1F3A"/>
                </a:solidFill>
                <a:latin typeface="Calibri"/>
              </a:rPr>
              <a:t>From New Deal to Cleared to Scope.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09728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800" b="1">
                <a:solidFill>
                  <a:srgbClr val="6D28D9"/>
                </a:solidFill>
                <a:latin typeface="Calibri"/>
              </a:rPr>
              <a:t>—  </a:t>
            </a:r>
            <a:r>
              <a:rPr sz="1800">
                <a:solidFill>
                  <a:srgbClr val="1F2937"/>
                </a:solidFill>
                <a:latin typeface="Calibri"/>
              </a:rPr>
              <a:t>New deal → Intake auto-opens with the deal payload.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800" b="1">
                <a:solidFill>
                  <a:srgbClr val="6D28D9"/>
                </a:solidFill>
                <a:latin typeface="Calibri"/>
              </a:rPr>
              <a:t>—  </a:t>
            </a:r>
            <a:r>
              <a:rPr sz="1800">
                <a:solidFill>
                  <a:srgbClr val="1F2937"/>
                </a:solidFill>
                <a:latin typeface="Calibri"/>
              </a:rPr>
              <a:t>Ethics matrix triggers on long relationship + regulated industry.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800" b="1">
                <a:solidFill>
                  <a:srgbClr val="6D28D9"/>
                </a:solidFill>
                <a:latin typeface="Calibri"/>
              </a:rPr>
              <a:t>—  </a:t>
            </a:r>
            <a:r>
              <a:rPr sz="1800">
                <a:solidFill>
                  <a:srgbClr val="1F2937"/>
                </a:solidFill>
                <a:latin typeface="Calibri"/>
              </a:rPr>
              <a:t>Screening flags seven hit types. Severity-coded pills on the deal.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800" b="1">
                <a:solidFill>
                  <a:srgbClr val="6D28D9"/>
                </a:solidFill>
                <a:latin typeface="Calibri"/>
              </a:rPr>
              <a:t>—  </a:t>
            </a:r>
            <a:r>
              <a:rPr sz="1800">
                <a:solidFill>
                  <a:srgbClr val="1F2937"/>
                </a:solidFill>
                <a:latin typeface="Calibri"/>
              </a:rPr>
              <a:t>QRM owns mitigations. No finalize while any high-severity is open.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8D9"/>
                </a:solidFill>
                <a:latin typeface="Calibri"/>
              </a:rPr>
              <a:t>DEMO · BEAT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B1F3A"/>
                </a:solidFill>
                <a:latin typeface="Calibri"/>
              </a:rPr>
              <a:t>Scope and AI scenarios.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640080" cy="28575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B95A5"/>
                </a:solidFill>
                <a:latin typeface="Calibri"/>
              </a:rPr>
              <a:t>DealPad — NextGenApp Pricing &amp; Scoping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B95A5"/>
                </a:solidFill>
                <a:latin typeface="Calibri"/>
              </a:rPr>
              <a:t>6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0B1F3A"/>
                </a:solidFill>
                <a:latin typeface="Calibri"/>
              </a:rPr>
              <a:t>Build the scope. Watch the numbers move.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09728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800" b="1">
                <a:solidFill>
                  <a:srgbClr val="6D28D9"/>
                </a:solidFill>
                <a:latin typeface="Calibri"/>
              </a:rPr>
              <a:t>—  </a:t>
            </a:r>
            <a:r>
              <a:rPr sz="1800">
                <a:solidFill>
                  <a:srgbClr val="1F2937"/>
                </a:solidFill>
                <a:latin typeface="Calibri"/>
              </a:rPr>
              <a:t>Catalog-driven scope. Roles × complexity recompute live.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800" b="1">
                <a:solidFill>
                  <a:srgbClr val="6D28D9"/>
                </a:solidFill>
                <a:latin typeface="Calibri"/>
              </a:rPr>
              <a:t>—  </a:t>
            </a:r>
            <a:r>
              <a:rPr sz="1800">
                <a:solidFill>
                  <a:srgbClr val="1F2937"/>
                </a:solidFill>
                <a:latin typeface="Calibri"/>
              </a:rPr>
              <a:t>AI suggests comparables, effort, scenario shape — all overridable.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800" b="1">
                <a:solidFill>
                  <a:srgbClr val="6D28D9"/>
                </a:solidFill>
                <a:latin typeface="Calibri"/>
              </a:rPr>
              <a:t>—  </a:t>
            </a:r>
            <a:r>
              <a:rPr sz="1800">
                <a:solidFill>
                  <a:srgbClr val="1F2937"/>
                </a:solidFill>
                <a:latin typeface="Calibri"/>
              </a:rPr>
              <a:t>One click: Standard / Premium / Value with reasoning attached.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800" b="1">
                <a:solidFill>
                  <a:srgbClr val="6D28D9"/>
                </a:solidFill>
                <a:latin typeface="Calibri"/>
              </a:rPr>
              <a:t>—  </a:t>
            </a:r>
            <a:r>
              <a:rPr sz="1800">
                <a:solidFill>
                  <a:srgbClr val="1F2937"/>
                </a:solidFill>
                <a:latin typeface="Calibri"/>
              </a:rPr>
              <a:t>Margin floor is guarded. Breaches need a captured override.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8D9"/>
                </a:solidFill>
                <a:latin typeface="Calibri"/>
              </a:rPr>
              <a:t>DEMO · BEAT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B1F3A"/>
                </a:solidFill>
                <a:latin typeface="Calibri"/>
              </a:rPr>
              <a:t>Approvals, risk and mitigations.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640080" cy="28575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B95A5"/>
                </a:solidFill>
                <a:latin typeface="Calibri"/>
              </a:rPr>
              <a:t>DealPad — NextGenApp Pricing &amp; Scoping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B95A5"/>
                </a:solidFill>
                <a:latin typeface="Calibri"/>
              </a:rPr>
              <a:t>7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8D9"/>
                </a:solidFill>
                <a:latin typeface="Calibri"/>
              </a:rPr>
              <a:t>STATE MACHINE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1114653" cy="548640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1114653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Draft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709013" y="1965960"/>
            <a:ext cx="457200" cy="182880"/>
          </a:xfrm>
          <a:prstGeom prst="righ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11933" y="1783080"/>
            <a:ext cx="1114653" cy="548640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11933" y="1783080"/>
            <a:ext cx="1114653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In review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372306" y="1965960"/>
            <a:ext cx="457200" cy="182880"/>
          </a:xfrm>
          <a:prstGeom prst="righ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75226" y="1783080"/>
            <a:ext cx="1114653" cy="548640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75226" y="1783080"/>
            <a:ext cx="1114653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PDL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035599" y="1965960"/>
            <a:ext cx="457200" cy="182880"/>
          </a:xfrm>
          <a:prstGeom prst="righ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538519" y="1783080"/>
            <a:ext cx="1114653" cy="548640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38519" y="1783080"/>
            <a:ext cx="1114653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SLL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698892" y="1965960"/>
            <a:ext cx="457200" cy="182880"/>
          </a:xfrm>
          <a:prstGeom prst="righ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201812" y="1783080"/>
            <a:ext cx="1114653" cy="548640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1812" y="1783080"/>
            <a:ext cx="1114653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FIN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362185" y="1965960"/>
            <a:ext cx="457200" cy="182880"/>
          </a:xfrm>
          <a:prstGeom prst="righ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865105" y="1783080"/>
            <a:ext cx="1114653" cy="548640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5105" y="1783080"/>
            <a:ext cx="1114653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QRM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0025478" y="1965960"/>
            <a:ext cx="457200" cy="182880"/>
          </a:xfrm>
          <a:prstGeom prst="righ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528398" y="1783080"/>
            <a:ext cx="1114653" cy="54864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28398" y="1783080"/>
            <a:ext cx="1114653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Approved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108960"/>
            <a:ext cx="109728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800" b="1">
                <a:solidFill>
                  <a:srgbClr val="6D28D9"/>
                </a:solidFill>
                <a:latin typeface="Calibri"/>
              </a:rPr>
              <a:t>—  </a:t>
            </a:r>
            <a:r>
              <a:rPr sz="1800">
                <a:solidFill>
                  <a:srgbClr val="1F2937"/>
                </a:solidFill>
                <a:latin typeface="Calibri"/>
              </a:rPr>
              <a:t>Six gates. Only relevant approvers notified.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800" b="1">
                <a:solidFill>
                  <a:srgbClr val="6D28D9"/>
                </a:solidFill>
                <a:latin typeface="Calibri"/>
              </a:rPr>
              <a:t>—  </a:t>
            </a:r>
            <a:r>
              <a:rPr sz="1800">
                <a:solidFill>
                  <a:srgbClr val="1F2937"/>
                </a:solidFill>
                <a:latin typeface="Calibri"/>
              </a:rPr>
              <a:t>AI risk summary attached to the approval card.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800" b="1">
                <a:solidFill>
                  <a:srgbClr val="6D28D9"/>
                </a:solidFill>
                <a:latin typeface="Calibri"/>
              </a:rPr>
              <a:t>—  </a:t>
            </a:r>
            <a:r>
              <a:rPr sz="1800">
                <a:solidFill>
                  <a:srgbClr val="1F2937"/>
                </a:solidFill>
                <a:latin typeface="Calibri"/>
              </a:rPr>
              <a:t>Resolve a mitigation → push fires to Intapp instantly.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800" b="1">
                <a:solidFill>
                  <a:srgbClr val="6D28D9"/>
                </a:solidFill>
                <a:latin typeface="Calibri"/>
              </a:rPr>
              <a:t>—  </a:t>
            </a:r>
            <a:r>
              <a:rPr sz="1800">
                <a:solidFill>
                  <a:srgbClr val="1F2937"/>
                </a:solidFill>
                <a:latin typeface="Calibri"/>
              </a:rPr>
              <a:t>Approve → fan-out begins.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8D9"/>
                </a:solidFill>
                <a:latin typeface="Calibri"/>
              </a:rPr>
              <a:t>DEMO · BEAT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B1F3A"/>
                </a:solidFill>
                <a:latin typeface="Calibri"/>
              </a:rPr>
              <a:t>Outbound — fan-out on approval.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640080" cy="28575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B95A5"/>
                </a:solidFill>
                <a:latin typeface="Calibri"/>
              </a:rPr>
              <a:t>DealPad — NextGenApp Pricing &amp; Scoping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B95A5"/>
                </a:solidFill>
                <a:latin typeface="Calibri"/>
              </a:rPr>
              <a:t>8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B5563"/>
                </a:solidFill>
                <a:latin typeface="Calibri"/>
              </a:rPr>
              <a:t>Each integration on its own trigger. Same code, sim or live.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20240"/>
            <a:ext cx="2650159" cy="42976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20240"/>
            <a:ext cx="2650159" cy="1645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31720"/>
            <a:ext cx="21929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Dynamics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71800"/>
            <a:ext cx="2192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8D9"/>
                </a:solidFill>
                <a:latin typeface="Calibri"/>
              </a:rPr>
              <a:t>Customer + opportunity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74720"/>
            <a:ext cx="2192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8B95A5"/>
                </a:solidFill>
                <a:latin typeface="Calibri"/>
              </a:rPr>
              <a:t>TRIGGER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49040"/>
            <a:ext cx="2192959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Approved or rejected.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3391" y="1920240"/>
            <a:ext cx="2650159" cy="42976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63391" y="1920240"/>
            <a:ext cx="2650159" cy="1645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91991" y="2331720"/>
            <a:ext cx="21929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Workday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1991" y="2971800"/>
            <a:ext cx="2192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8D9"/>
                </a:solidFill>
                <a:latin typeface="Calibri"/>
              </a:rPr>
              <a:t>Project + budget reserve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1991" y="3474720"/>
            <a:ext cx="2192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8B95A5"/>
                </a:solidFill>
                <a:latin typeface="Calibri"/>
              </a:rPr>
              <a:t>TRIGGER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1991" y="3749040"/>
            <a:ext cx="2192959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Approved only.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8142" y="1920240"/>
            <a:ext cx="2650159" cy="42976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8142" y="1920240"/>
            <a:ext cx="2650159" cy="1645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6742" y="2331720"/>
            <a:ext cx="21929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Intapp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6742" y="2971800"/>
            <a:ext cx="2192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8D9"/>
                </a:solidFill>
                <a:latin typeface="Calibri"/>
              </a:rPr>
              <a:t>Outcome + mitigation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6742" y="3474720"/>
            <a:ext cx="2192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8B95A5"/>
                </a:solidFill>
                <a:latin typeface="Calibri"/>
              </a:rPr>
              <a:t>TRIGGER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6742" y="3749040"/>
            <a:ext cx="2192959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Outcome on approval/rejection. Mitigation on each event.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92893" y="1920240"/>
            <a:ext cx="2650159" cy="42976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92893" y="1920240"/>
            <a:ext cx="2650159" cy="1645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21493" y="2331720"/>
            <a:ext cx="21929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Conga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1493" y="2971800"/>
            <a:ext cx="2192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8D9"/>
                </a:solidFill>
                <a:latin typeface="Calibri"/>
              </a:rPr>
              <a:t>Letter generate + deliver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1493" y="3474720"/>
            <a:ext cx="2192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8B95A5"/>
                </a:solidFill>
                <a:latin typeface="Calibri"/>
              </a:rPr>
              <a:t>TRIGGER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21493" y="3749040"/>
            <a:ext cx="2192959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User-initiated. Not approval-triggered.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8D9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B1F3A"/>
                </a:solidFill>
                <a:latin typeface="Calibri"/>
              </a:rPr>
              <a:t>Why this stack holds up.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640080" cy="28575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B95A5"/>
                </a:solidFill>
                <a:latin typeface="Calibri"/>
              </a:rPr>
              <a:t>DealPad — NextGenApp Pricing &amp; Scoping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B95A5"/>
                </a:solidFill>
                <a:latin typeface="Calibri"/>
              </a:rPr>
              <a:t>9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3545738" cy="457200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299709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Provider abstraction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8D9"/>
                </a:solidFill>
                <a:latin typeface="Calibri"/>
              </a:rPr>
              <a:t>Sim → live by config.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200400"/>
            <a:ext cx="457200" cy="28575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2997098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Every integration behind a typed interface. Flip a flag to go live.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2978" y="1691640"/>
            <a:ext cx="3545738" cy="457200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7298" y="2057400"/>
            <a:ext cx="299709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AIMS as moat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298" y="269748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8D9"/>
                </a:solidFill>
                <a:latin typeface="Calibri"/>
              </a:rPr>
              <a:t>ISO/IEC 42001, owned.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97298" y="3200400"/>
            <a:ext cx="457200" cy="28575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7298" y="3429000"/>
            <a:ext cx="2997098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Per-tenant evidence: model, lineage, monitoring, overrides.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7316" y="1691640"/>
            <a:ext cx="3545738" cy="457200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1636" y="2057400"/>
            <a:ext cx="299709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Bounded contexts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1636" y="269748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8D9"/>
                </a:solidFill>
                <a:latin typeface="Calibri"/>
              </a:rPr>
              <a:t>Clean event seams.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71636" y="3200400"/>
            <a:ext cx="457200" cy="28575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71636" y="3429000"/>
            <a:ext cx="2997098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Approval emits events. Downstream contexts react. Agents subscribe later.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8D9"/>
                </a:solidFill>
                <a:latin typeface="Calibri"/>
              </a:rPr>
              <a:t>WHAT WE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B1F3A"/>
                </a:solidFill>
                <a:latin typeface="Calibri"/>
              </a:rPr>
              <a:t>Three answers that re-shape the build.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640080" cy="28575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B95A5"/>
                </a:solidFill>
                <a:latin typeface="Calibri"/>
              </a:rPr>
              <a:t>DealPad — NextGenApp Pricing &amp; Scoping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B95A5"/>
                </a:solidFill>
                <a:latin typeface="Calibri"/>
              </a:rPr>
              <a:t>10 / 10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920240"/>
            <a:ext cx="868680" cy="8686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92024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0B1F3A"/>
                </a:solidFill>
                <a:latin typeface="Calibri"/>
              </a:rPr>
              <a:t>Pricing parity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4688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B5563"/>
                </a:solidFill>
                <a:latin typeface="Calibri"/>
              </a:rPr>
              <a:t>Canonical Excel + sample I/O for the regression suite.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200400"/>
            <a:ext cx="868680" cy="8686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20040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0B1F3A"/>
                </a:solidFill>
                <a:latin typeface="Calibri"/>
              </a:rPr>
              <a:t>AI 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7490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B5563"/>
                </a:solidFill>
                <a:latin typeface="Calibri"/>
              </a:rPr>
              <a:t>Approved LLMs, hosting, data residency, allowed grounding.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480560"/>
            <a:ext cx="868680" cy="8686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48056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4805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0B1F3A"/>
                </a:solidFill>
                <a:latin typeface="Calibri"/>
              </a:rPr>
              <a:t>Platform constraints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0292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B5563"/>
                </a:solidFill>
                <a:latin typeface="Calibri"/>
              </a:rPr>
              <a:t>Salesforce / Conga / Microsoft preferences or vetoes.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