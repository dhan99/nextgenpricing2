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502920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ALTIMETRIK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D9B8"/>
                </a:solidFill>
                <a:latin typeface="Calibri"/>
              </a:rPr>
              <a:t>for Armanino LLP — Solutioning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DealPad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D9B8"/>
                </a:solidFill>
                <a:latin typeface="Calibri"/>
              </a:rPr>
              <a:t>NextGenApp Pricing &amp; Scoping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03320"/>
            <a:ext cx="73152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10-minute stakeholder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C299"/>
                </a:solidFill>
                <a:latin typeface="Calibri"/>
              </a:rPr>
              <a:t>Product &amp; Solutioning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0B0B6"/>
                </a:solidFill>
                <a:latin typeface="Calibri"/>
              </a:rPr>
              <a:t>Working session — for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8229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WHAT YOU'LL 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09728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C"/>
                </a:solidFill>
                <a:latin typeface="Calibri"/>
              </a:rPr>
              <a:t>A working pricing &amp; scoping platform engineered for Armanino's deal motion — intake to approval to outbound, with AI grounded in our own historical data and an integration fabric that treats Dynamics, Workday, Intapp and Conga as first-class peers, not bolt-ons.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65760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886200"/>
            <a:ext cx="32004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418"/>
                </a:solidFill>
                <a:latin typeface="Calibri"/>
              </a:rPr>
              <a:t>Future-built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43484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Provider abstraction means simulated today, live tomorrow — same code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65760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886200"/>
            <a:ext cx="32004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418"/>
                </a:solidFill>
                <a:latin typeface="Calibri"/>
              </a:rPr>
              <a:t>Defensible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3484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ISO/IEC 42001 AIMS, RBAC, state-machine approvals, per-integration audit log.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65760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3886200"/>
            <a:ext cx="32004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1418"/>
                </a:solidFill>
                <a:latin typeface="Calibri"/>
              </a:rPr>
              <a:t>Demonstrable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43484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Every screen in this deck is in the running app behind us — not concept 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WHERE WE ARE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Pricing &amp; scoping is the bottleneck — and the moat is leaking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532120" cy="48463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6184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84248"/>
            <a:ext cx="5129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A spreadsheet stack pretending to be a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68296"/>
            <a:ext cx="5129784" cy="3694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Excel workbooks per business unit, with tribal overrides and partner judgment baked into hidden cells.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Pricing logic forks across Tax, Audit, Advisory, Consulting and Outsourcing — no single source of truth.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Risk screening, approvals and project setup all live outside the pricing artifact, reconciled by hand.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AI is absent from the deal motion; comparables, margin and effort estimation rely on memory.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Every new BU, service line or rate change reopens the same change-management debate.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532120" cy="48463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6248" y="16184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61848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84248"/>
            <a:ext cx="5129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What that costs the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68296"/>
            <a:ext cx="5129784" cy="3694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Cycle time: scoping a complex pursuit takes days, not the hours the market expects.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Margin leak: undocumented overrides defeat the rate card; lessons from won/lost deals do not compound.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Risk exposure: independence and conflict checks happen late, inconsistently, and without an audit trail.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Adoption ceiling: a platform that lives in Excel cannot host the next generation of AI use cases.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Strategic optionality: cannot extend into proposals, contracts or post-deal analytics from this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THE DEALPAD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One platform, four reinforcing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36443" cy="48463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2652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Intelligent intake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24328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79243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Auto-open Intapp Intake on deal creation.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Conflict + sanctions + PEP + independence + ethics matrix in one pass.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Accept-gate before scoping starts — risk findings ride with the deal.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1417320"/>
            <a:ext cx="2636443" cy="48463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645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26522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1945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Scoped pricing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6563" y="2624328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2788920"/>
            <a:ext cx="2179243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Seven-tier role hierarchy, complexity multipliers (0.8×–1.5×).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Scope catalog drives margin, fee and cost recalculation in real time.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Auto-generated Standard / Premium / Value scenarios with AI reasoning attached.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6" y="1417320"/>
            <a:ext cx="2636443" cy="48463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1645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26522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6" y="21945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AI as a teammate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6" y="2624328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6" y="2788920"/>
            <a:ext cx="2179243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Five calibrated use cases: similarity, effort, margin, scenarios, risk.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Grounded in Armanino's own history — not a generic vendor model.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Every AI output is overridable, captured for ISO 42001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09" y="1417320"/>
            <a:ext cx="2636443" cy="484632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209" y="1645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26522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09" y="21945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Federated approvals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209" y="2624328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209" y="2788920"/>
            <a:ext cx="2179243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Six personas (PDL, SLL, PO, FIN, QRM, IT) with per-feature RBAC.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State-machine routing, no skipping, no silent reopens.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Outbound to Dynamics, Workday, Intapp and Conga on the right trigger.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HOW WE'LL SPEND THE NEXT SEVEN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Demo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4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Four beats, in the order a real pursuit moves. We will run the live app for each beat — this deck is just the map.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417320" cy="292608"/>
          </a:xfrm>
          <a:prstGeom prst="rect">
            <a:avLst/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Beat 1 · 1.5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Intelligent intake &amp;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774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Create a deal → Intapp Intake auto-opens → Screening runs (sanctions, PEP, independence, ethics matrix) → accept-gate releases scoping.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27248"/>
            <a:ext cx="1417320" cy="292608"/>
          </a:xfrm>
          <a:prstGeom prst="rect">
            <a:avLst/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Beat 2 · 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08152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Scoped pricing &amp; AI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44728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Build the scope from the catalog → roles + complexity recompute fees live → AI generates Standard / Premium / Value with reasoning attached.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41648"/>
            <a:ext cx="11094415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97096"/>
            <a:ext cx="1417320" cy="292608"/>
          </a:xfrm>
          <a:prstGeom prst="rect">
            <a:avLst/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9709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Beat 3 · 2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15137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Approvals, risk &amp; 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51713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Submit for approval → routing across the six-persona matrix → mitigations resolved/waived push back to Intapp Risk in real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11496"/>
            <a:ext cx="11094415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266944"/>
            <a:ext cx="1417320" cy="292608"/>
          </a:xfrm>
          <a:prstGeom prst="rect">
            <a:avLst/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6694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Beat 4 · 1.5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22122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Outbound 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5869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On approval, fan-out fires: Dynamics customer + opportunity, Workday project + budget reserve, Intapp outcome, Conga letter on demand.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181344"/>
            <a:ext cx="11094415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SOLUTIONING CONTEXT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Tenant model — one platform, isolated firms, shared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5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Each Armanino entity (and, later, each peer firm) lives in its own logical tenant. The product surface is shared; the data, the AI evidence and the integration credentials are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6400800" cy="24231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1671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671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TENANT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32888"/>
            <a:ext cx="5998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What is isolated per tenant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16936"/>
            <a:ext cx="5998464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Postgres row-level tenancy on every domain table — deals, scopes, approvals, AIMS evidence, integration credentials.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AI grounding (similarity, effort, margin) reads only that tenant's history; cross-tenant contamination is not a configuration choice.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Provider mode flag (simulated vs live) is per-tenant — a pilot firm can run live integrations while a sandbox tenant stays simulated.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Per-tenant ISO/IEC 42001 evidence pack: model purpose, dataset lineage, override capture, monitoring 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965960"/>
            <a:ext cx="4663440" cy="24231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9208" y="21671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21671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SHARED SPINE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2532888"/>
            <a:ext cx="4261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What stays one codebase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916936"/>
            <a:ext cx="4261104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Pricing engine, scope catalog schema, approval state machine.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Provider abstraction layer for Dynamics, Workday, Intapp, Conga.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AIMS evidence schema and audit log structure.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RBAC matrix and persona definitions.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11094415" cy="169164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SIX PERSONAS, PER TENANT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66360"/>
            <a:ext cx="168142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6814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26522"/>
                </a:solidFill>
                <a:latin typeface="Calibri"/>
              </a:rPr>
              <a:t>PDL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50408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11418"/>
                </a:solidFill>
                <a:latin typeface="Calibri"/>
              </a:rPr>
              <a:t>Pursuit / Deal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5899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Calibri"/>
              </a:rPr>
              <a:t>Owns the deal end-to-end.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8397" y="5166360"/>
            <a:ext cx="168142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8397" y="5257800"/>
            <a:ext cx="16814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26522"/>
                </a:solidFill>
                <a:latin typeface="Calibri"/>
              </a:rPr>
              <a:t>SLL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4117" y="5550408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11418"/>
                </a:solidFill>
                <a:latin typeface="Calibri"/>
              </a:rPr>
              <a:t>Service Line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4117" y="5769864"/>
            <a:ext cx="15899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Calibri"/>
              </a:rPr>
              <a:t>Sign-off on service-line economics.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9554" y="5166360"/>
            <a:ext cx="168142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9554" y="5257800"/>
            <a:ext cx="16814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26522"/>
                </a:solidFill>
                <a:latin typeface="Calibri"/>
              </a:rPr>
              <a:t>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5274" y="5550408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11418"/>
                </a:solidFill>
                <a:latin typeface="Calibri"/>
              </a:rPr>
              <a:t>Pricing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5274" y="5769864"/>
            <a:ext cx="15899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Calibri"/>
              </a:rPr>
              <a:t>Curates rates, complexity, scope catalog.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0711" y="5166360"/>
            <a:ext cx="168142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0711" y="5257800"/>
            <a:ext cx="16814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26522"/>
                </a:solidFill>
                <a:latin typeface="Calibri"/>
              </a:rPr>
              <a:t>FIN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6431" y="5550408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11418"/>
                </a:solidFill>
                <a:latin typeface="Calibri"/>
              </a:rPr>
              <a:t>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6431" y="5769864"/>
            <a:ext cx="15899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Calibri"/>
              </a:rPr>
              <a:t>Margin floor, commitments, GL alignment.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41868" y="5166360"/>
            <a:ext cx="168142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1868" y="5257800"/>
            <a:ext cx="16814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26522"/>
                </a:solidFill>
                <a:latin typeface="Calibri"/>
              </a:rPr>
              <a:t>QRM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7588" y="5550408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11418"/>
                </a:solidFill>
                <a:latin typeface="Calibri"/>
              </a:rPr>
              <a:t>Quality /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7588" y="5769864"/>
            <a:ext cx="15899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Calibri"/>
              </a:rPr>
              <a:t>Conflicts, ethics, mitigation lifecycle.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33025" y="5166360"/>
            <a:ext cx="168142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3025" y="5257800"/>
            <a:ext cx="16814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26522"/>
                </a:solidFill>
                <a:latin typeface="Calibri"/>
              </a:rPr>
              <a:t>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8745" y="5550408"/>
            <a:ext cx="15899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11418"/>
                </a:solidFill>
                <a:latin typeface="Calibri"/>
              </a:rPr>
              <a:t>IT / 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8745" y="5769864"/>
            <a:ext cx="15899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Calibri"/>
              </a:rPr>
              <a:t>Tenancy, providers, AIMS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SOLUTIONING CONTEXT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End-to-end deal flow — from new opportunity to live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6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Six lifecycle stages, each with an owning persona and its outbound side effects. The boxes are stages; the rail beneath shows what fires from 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757629" cy="2194560"/>
          </a:xfrm>
          <a:prstGeom prst="roundRect">
            <a:avLst>
              <a:gd name="adj" fmla="val 7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3918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39186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418"/>
                </a:solidFill>
                <a:latin typeface="Calibri"/>
              </a:rPr>
              <a:t>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PDL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3918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42C"/>
                </a:solidFill>
                <a:latin typeface="Calibri"/>
              </a:rPr>
              <a:t>Create deal · Intapp Intake auto-opens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10841" y="2944368"/>
            <a:ext cx="164592" cy="23774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15997" y="1965960"/>
            <a:ext cx="1757629" cy="2194560"/>
          </a:xfrm>
          <a:prstGeom prst="roundRect">
            <a:avLst>
              <a:gd name="adj" fmla="val 7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8877" y="2148840"/>
            <a:ext cx="13918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8877" y="2468880"/>
            <a:ext cx="139186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418"/>
                </a:solidFill>
                <a:latin typeface="Calibri"/>
              </a:rPr>
              <a:t>Screen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98877" y="3017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98877" y="3017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QRM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8877" y="3383280"/>
            <a:ext cx="13918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42C"/>
                </a:solidFill>
                <a:latin typeface="Calibri"/>
              </a:rPr>
              <a:t>7 hit types · ethics matrix · accept-gate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78198" y="2944368"/>
            <a:ext cx="164592" cy="23774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83354" y="1965960"/>
            <a:ext cx="1757629" cy="2194560"/>
          </a:xfrm>
          <a:prstGeom prst="roundRect">
            <a:avLst>
              <a:gd name="adj" fmla="val 7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6234" y="2148840"/>
            <a:ext cx="13918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6234" y="2468880"/>
            <a:ext cx="139186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418"/>
                </a:solidFill>
                <a:latin typeface="Calibri"/>
              </a:rPr>
              <a:t>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6234" y="3017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6234" y="3017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PDL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6234" y="3383280"/>
            <a:ext cx="13918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42C"/>
                </a:solidFill>
                <a:latin typeface="Calibri"/>
              </a:rPr>
              <a:t>Catalog assemblies · roles · complexity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45555" y="2944368"/>
            <a:ext cx="164592" cy="23774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50711" y="1965960"/>
            <a:ext cx="1757629" cy="2194560"/>
          </a:xfrm>
          <a:prstGeom prst="roundRect">
            <a:avLst>
              <a:gd name="adj" fmla="val 7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3591" y="2148840"/>
            <a:ext cx="13918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3591" y="2468880"/>
            <a:ext cx="139186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418"/>
                </a:solidFill>
                <a:latin typeface="Calibri"/>
              </a:rPr>
              <a:t>Price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3591" y="3017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3591" y="3017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3591" y="3383280"/>
            <a:ext cx="13918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42C"/>
                </a:solidFill>
                <a:latin typeface="Calibri"/>
              </a:rPr>
              <a:t>Live recompute · AI scenarios Std/Prem/Val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12912" y="2944368"/>
            <a:ext cx="164592" cy="23774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18068" y="1965960"/>
            <a:ext cx="1757629" cy="2194560"/>
          </a:xfrm>
          <a:prstGeom prst="roundRect">
            <a:avLst>
              <a:gd name="adj" fmla="val 7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0948" y="2148840"/>
            <a:ext cx="13918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0948" y="2468880"/>
            <a:ext cx="139186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418"/>
                </a:solidFill>
                <a:latin typeface="Calibri"/>
              </a:rPr>
              <a:t>Approve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00948" y="3017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0948" y="3017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SLL+FIN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0948" y="3383280"/>
            <a:ext cx="13918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42C"/>
                </a:solidFill>
                <a:latin typeface="Calibri"/>
              </a:rPr>
              <a:t>6-gate state machine · AI risk summary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780269" y="2944368"/>
            <a:ext cx="164592" cy="237744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885425" y="1965960"/>
            <a:ext cx="1757629" cy="2194560"/>
          </a:xfrm>
          <a:prstGeom prst="roundRect">
            <a:avLst>
              <a:gd name="adj" fmla="val 7000"/>
            </a:avLst>
          </a:prstGeom>
          <a:solidFill>
            <a:srgbClr val="FFECDF"/>
          </a:solidFill>
          <a:ln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68305" y="2148840"/>
            <a:ext cx="13918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68305" y="2468880"/>
            <a:ext cx="139186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418"/>
                </a:solidFill>
                <a:latin typeface="Calibri"/>
              </a:rPr>
              <a:t>Outbound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68305" y="3017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68305" y="3017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68305" y="3383280"/>
            <a:ext cx="13918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42C"/>
                </a:solidFill>
                <a:latin typeface="Calibri"/>
              </a:rPr>
              <a:t>Dynamics · Workday · Intapp · Conga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43484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49808" y="46360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4636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EVENTS ON THE WIRE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5001768"/>
            <a:ext cx="5129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What gets emitted as the deal moves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5385816"/>
            <a:ext cx="512978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intake.opened · intake.accepted · screening.completed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scope.changed → pricing.recomputed (every keystroke that matters)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approval.requested · approval.advanced · deal.approved / deal.rejected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mitigation.resolved / waived / rejected (Intapp push)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43484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10528" y="46360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0528" y="4636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AI ON THE RAIL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5001768"/>
            <a:ext cx="5129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Where AI rides each stage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5385816"/>
            <a:ext cx="512978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Intake / Screen: risk summary attached to the deal header.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Scope: similarity surfaces comparable closed-won deals.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Price: margin advisor + scenario recommender (Std/Prem/Val).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Approve: AI rationale rendered next to the approval 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SOLUTIONING CONTEXT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System architecture — the diagram behind the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7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PERSONA 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4415" cy="685800"/>
          </a:xfrm>
          <a:prstGeom prst="roundRect">
            <a:avLst>
              <a:gd name="adj" fmla="val 18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84906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709" y="1600200"/>
            <a:ext cx="184906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6778" y="1600200"/>
            <a:ext cx="184906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1600200"/>
            <a:ext cx="184906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1600200"/>
            <a:ext cx="184906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3985" y="1600200"/>
            <a:ext cx="184906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2331720"/>
            <a:ext cx="182880" cy="164592"/>
          </a:xfrm>
          <a:prstGeom prst="down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APPLICATION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3464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71800"/>
            <a:ext cx="2218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React + 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22188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Frontend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7523" y="2971800"/>
            <a:ext cx="9525" cy="77724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7523" y="2971800"/>
            <a:ext cx="2218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Express API (tsx)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7523" y="3337560"/>
            <a:ext cx="22188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Domain endpoints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6406" y="2971800"/>
            <a:ext cx="9525" cy="77724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6406" y="2971800"/>
            <a:ext cx="2218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Pricing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6406" y="3337560"/>
            <a:ext cx="22188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Roles × complexity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5289" y="2971800"/>
            <a:ext cx="9525" cy="77724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289" y="2971800"/>
            <a:ext cx="2218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Approval state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289" y="3337560"/>
            <a:ext cx="22188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6 gates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24172" y="2971800"/>
            <a:ext cx="9525" cy="77724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4172" y="2971800"/>
            <a:ext cx="2218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AIMS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4172" y="3337560"/>
            <a:ext cx="22188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Evidence + monitoring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6004407" y="3977640"/>
            <a:ext cx="182880" cy="164592"/>
          </a:xfrm>
          <a:prstGeom prst="down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DATA &amp; AI GROUNDING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480560"/>
            <a:ext cx="5455767" cy="86868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617720"/>
            <a:ext cx="49985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Postgres — row-level tenancy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49985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deals, scopes, approvals, mitigations, activity_log, integration credentials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7287" y="4480560"/>
            <a:ext cx="5455767" cy="868680"/>
          </a:xfrm>
          <a:prstGeom prst="roundRect">
            <a:avLst>
              <a:gd name="adj" fmla="val 10000"/>
            </a:avLst>
          </a:prstGeom>
          <a:solidFill>
            <a:srgbClr val="FFECDF"/>
          </a:solidFill>
          <a:ln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4617720"/>
            <a:ext cx="49985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6522"/>
                </a:solidFill>
                <a:latin typeface="Calibri"/>
              </a:rPr>
              <a:t>AIMS evidence (ISO/IEC 42001)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5887" y="4937760"/>
            <a:ext cx="49985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11418"/>
                </a:solidFill>
                <a:latin typeface="Calibri"/>
              </a:rPr>
              <a:t>model purpose · dataset lineage · monitoring · override capture · per-tenant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6004407" y="5486400"/>
            <a:ext cx="182880" cy="164592"/>
          </a:xfrm>
          <a:prstGeom prst="down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715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PROVIDER ABSTRACTION → EXTERNAL SYSTEMS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9893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989320"/>
            <a:ext cx="184906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Dynamics 365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7709" y="5989320"/>
            <a:ext cx="184906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Workday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6778" y="5989320"/>
            <a:ext cx="184906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Intapp Intake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5847" y="5989320"/>
            <a:ext cx="184906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Intapp Screening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44916" y="5989320"/>
            <a:ext cx="184906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Conga CLM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3985" y="5989320"/>
            <a:ext cx="184906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858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5A5"/>
                </a:solidFill>
                <a:latin typeface="Calibri"/>
              </a:rPr>
              <a:t>Same call sites for simulator and live — flip the per-tenant mode flag. Each integration has its own trigger and its own audit-log lane.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DEMO · BEAT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Intelligent intake &amp; screening — Intapp as one provider, two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8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6949440" cy="49377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LIVE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6547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From 'New deal' to 'Cleared to scope'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22576"/>
            <a:ext cx="6547104" cy="3785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Pursuit lead opens DealPad → New deal → captures client, BU, service line, estimated fee.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Server awaits ensureIntakeRequest() — Intapp Intake request is created with the deal payload before scoping unlocks.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Intake matrix runs: relationship years ≥ 7 + regulated industry triggers the ethics matrix; auto-accept gate determines whether scoping is released or blocked pending review.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Screening fires in parallel — seven hit types: sanctions watchlist, industry restriction, PEP, independence, conflict-of-interest, regulatory review, fee-threshold (auto-add at fee ≥ $500k).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Findings render as severity-coded pills on the deal header. QRM owns mitigations from this point; the deal cannot finalize while any high-severity finding is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1371600"/>
            <a:ext cx="4114800" cy="49377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27848" y="15727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15727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WHAT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938528"/>
            <a:ext cx="371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The product moves to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322576"/>
            <a:ext cx="3712464" cy="3785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One Intapp brand, two cooperating modules — Intake and Screening — with separate provider interfaces under the hood.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Risk findings are part of the deal, not a side report.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Outcome push and mitigation push fire on different triggers — see Beat 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Same code path runs against the simulator today and against live Intapp tomorrow.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DEMO · BEAT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Scoped pricing engine and AI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6949440" cy="49377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LIVE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6547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Build the scope, watch the numbers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22576"/>
            <a:ext cx="6547104" cy="3785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Pursuit lead picks scope items from the catalog — assemblies, recurring blocks, service-line modules.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Seven-tier role hierarchy and complexity multipliers (0.8× to 1.5×) recompute fee, margin, cost and effort hours on every change.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AI Pricing Advisor surfaces comparable closed-won deals, suggested scenario shape and an effort estimate — every output is overridable.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One click generates Standard / Premium / Value scenarios side-by-side with AI reasoning attached, ready to walk a client through.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Margin Advisor flags the floor; scenarios that breach it cannot be submitted without an explicit override + captured rationale.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1371600"/>
            <a:ext cx="4114800" cy="49377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27848" y="15727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15727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WHAT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938528"/>
            <a:ext cx="371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Where DealPad moves past CPQ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322576"/>
            <a:ext cx="3712464" cy="3785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Service-hour pricing, not SKUs — assemblies, not catalog items.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AI is grounded in Armanino history; suggestions cite the deals they came from.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Every override is captured as ISO/IEC 42001 evidence, not a free-text note.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Margin is a guarded property of the scenario, not an after-the-fact spreadsheet check.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DEMO · BEAT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Approvals, risk and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10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APPROVAL STATE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Draft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09013" y="1764792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11933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1933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In review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72306" y="1764792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75226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5226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PDL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35599" y="1764792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8519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8519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SLL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98892" y="1764792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01812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1812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FIN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362185" y="1764792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5105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5105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1418"/>
                </a:solidFill>
                <a:latin typeface="Calibri"/>
              </a:rPr>
              <a:t>QRM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25478" y="1764792"/>
            <a:ext cx="457200" cy="182880"/>
          </a:xfrm>
          <a:prstGeom prst="rightArrow">
            <a:avLst/>
          </a:prstGeom>
          <a:solidFill>
            <a:srgbClr val="8B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28398" y="1600200"/>
            <a:ext cx="1114653" cy="5029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8398" y="1600200"/>
            <a:ext cx="111465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606040"/>
            <a:ext cx="5532120" cy="365760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28072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28072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LIVE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172968"/>
            <a:ext cx="5129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Routing in the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557016"/>
            <a:ext cx="5129784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Pursuit lead submits — six gates evaluate; only the relevant approvers get notified.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AI risk summary is attached to the approval card — approvers see the why, not just the ask.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QRM resolves or waives a mitigation — autoPushMitigation fires immediately back to Intapp.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Final approver clicks approve → state moves to Approved → outbound fan-out begins.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606040"/>
            <a:ext cx="5532120" cy="365760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56248" y="28072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28072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Calibri"/>
              </a:rPr>
              <a:t>GOVERNANCE BUILT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3172968"/>
            <a:ext cx="5129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Why product can defend this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3557016"/>
            <a:ext cx="5129784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No skipping, no silent reopens — state transitions are server-enforced.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Per-feature RBAC across PDL, SLL, PO, FIN, QRM,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Per-deal audit trail: who, what, when, with the AI narrative they saw at decision time.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Mitigation push and outcome push fire on independent triggers — clean event seams.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DEMO · BEAT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Outbound integrations — the fan-out 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11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Each integration is on its own trigger. Provider abstraction means the simulator we'll demo is the same code path that will hit the live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650159" cy="443484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2650159" cy="16459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59"/>
            <a:ext cx="2192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Dynamics 365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59"/>
            <a:ext cx="2192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Customer +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39"/>
            <a:ext cx="2192959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Trigger: deal approved or rejected.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autoPushDeal pushes the deal envelope.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Per-integration audit log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3391" y="1874519"/>
            <a:ext cx="2650159" cy="443484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3391" y="1874519"/>
            <a:ext cx="2650159" cy="16459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1991" y="2194559"/>
            <a:ext cx="2192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Workday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1991" y="2651759"/>
            <a:ext cx="2192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Project + budget 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1991" y="3063239"/>
            <a:ext cx="2192959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Trigger: deal approved only.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autoPushWorkdayProject runs an atomic committed-budget reserve.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Rejection does not create a project.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2" y="1874519"/>
            <a:ext cx="2650159" cy="443484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8142" y="1874519"/>
            <a:ext cx="2650159" cy="16459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6742" y="2194559"/>
            <a:ext cx="2192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Intapp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2" y="2651759"/>
            <a:ext cx="2192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Outcome + mitigation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2" y="3063239"/>
            <a:ext cx="2192959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Outcome push on approved or rejected.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Mitigation push on each resolve / waive / reject event.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One brand, two cooperating modules.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2893" y="1874519"/>
            <a:ext cx="2650159" cy="443484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2893" y="1874519"/>
            <a:ext cx="2650159" cy="16459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1493" y="2194559"/>
            <a:ext cx="2192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libri"/>
              </a:rPr>
              <a:t>Conga CLM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1493" y="2651759"/>
            <a:ext cx="2192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Letter generate + 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493" y="3063239"/>
            <a:ext cx="2192959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Explicit, user-initiated flow — not approval-triggered.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Generate endpoint then deliver endpoint, both audited.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Keeps document delivery a deliberate human moment.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ARCHITECTURE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Why this stack is defensible — and extensible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45738" cy="484632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libri"/>
              </a:rPr>
              <a:t>Provider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9970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Simulated → live by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2997098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Every integration sits behind a typed provider interface — Dynamics, Workday, Intapp (Intake + Screening), Conga, Power BI.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Mode flag flips simulator to live without touching call sites.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Lets us prove the product end-to-end before live credentials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417320"/>
            <a:ext cx="3545738" cy="484632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17373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libri"/>
              </a:rPr>
              <a:t>AIMS as a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2240280"/>
            <a:ext cx="29970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ISO/IEC 42001 evidence, owned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7298" y="2651760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7298" y="2834640"/>
            <a:ext cx="2997098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Per-tenant AI Management System: model purpose, dataset lineage, monitoring, override capture.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Horizontal SaaS vendors carry a vendor-scoped AIMS, not a firm-specific one.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Audit-ready from day one, not retrofitted under deadline pressure.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417320"/>
            <a:ext cx="3545738" cy="484632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17373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libri"/>
              </a:rPr>
              <a:t>Bounded contexts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2240280"/>
            <a:ext cx="29970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Clean seams for the next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71636" y="2651760"/>
            <a:ext cx="457200" cy="28575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1636" y="2834640"/>
            <a:ext cx="2997098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Deal, Scope, Pricing, Approval, Risk &amp; Compliance, Resource &amp; Budget, Engagement Documents — each owns its data and endpoints.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Approval emits deal_approved / deal_rejected; downstream contexts react.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F26522"/>
                </a:solidFill>
                <a:latin typeface="Calibri"/>
              </a:rPr>
              <a:t>• </a:t>
            </a:r>
            <a:r>
              <a:rPr sz="1100">
                <a:solidFill>
                  <a:srgbClr val="1F242C"/>
                </a:solidFill>
                <a:latin typeface="Calibri"/>
              </a:rPr>
              <a:t>An autonomous engagement-letter agent can subscribe later without touching approval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6522"/>
                </a:solidFill>
                <a:latin typeface="Calibri"/>
              </a:rPr>
              <a:t>WHAT WE WANT FROM THE NEXT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418"/>
                </a:solidFill>
                <a:latin typeface="Calibri"/>
              </a:rPr>
              <a:t>Three conversations that unblock everything 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640080" cy="28575"/>
          </a:xfrm>
          <a:prstGeom prst="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DealPad — NextGenApp Pricing &amp; Scoping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B95A5"/>
                </a:solidFill>
                <a:latin typeface="Calibri"/>
              </a:rP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These are the answers that re-shape the build. We would rather surface them now than discover them in week six.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65960"/>
            <a:ext cx="777240" cy="7772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4767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Pricing 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Can we get the canonical Excel workbooks per BU — with sample inputs and expected outputs — to use as the regression suite for parallel-run? Without this we have no objective definition of done.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91840"/>
            <a:ext cx="777240" cy="7772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7355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AI policy &amp; data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03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What is the firm's AI policy — approved LLMs, hosting model, data residency, PII / PCI / client-confidential handling, and what data may we ground the model on? This single answer redirects the AI architecture.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943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Platform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9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2C"/>
                </a:solidFill>
                <a:latin typeface="Calibri"/>
              </a:rPr>
              <a:t>Is there an IT or Procurement preference — or a veto — for Salesforce, Conga, or any Microsoft-stack component we should know about up front? Late-surfacing platform mandates are the most common way custom-builds die.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