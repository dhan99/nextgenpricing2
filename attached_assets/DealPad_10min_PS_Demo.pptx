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206240" y="0"/>
            <a:ext cx="73152" cy="6858000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4572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C4B5FD"/>
                </a:solidFill>
                <a:latin typeface="Calibri"/>
              </a:rPr>
              <a:t>ARMANINO LLP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686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C4B5FD"/>
                </a:solidFill>
                <a:latin typeface="Calibri"/>
              </a:rPr>
              <a:t>Solutioning workshop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194560"/>
            <a:ext cx="3657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Calibri"/>
              </a:rPr>
              <a:t>DealPad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108960"/>
            <a:ext cx="3657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>
                <a:solidFill>
                  <a:srgbClr val="E9D5FF"/>
                </a:solidFill>
                <a:latin typeface="Calibri"/>
              </a:rPr>
              <a:t>NextGenApp Pricing &amp; Scoping 2.0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703320"/>
            <a:ext cx="73152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84048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10-minute stakeholder demo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160520"/>
            <a:ext cx="3657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C4B5FD"/>
                </a:solidFill>
                <a:latin typeface="Calibri"/>
              </a:rPr>
              <a:t>Product &amp; Solutioning audience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636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94A3B8"/>
                </a:solidFill>
                <a:latin typeface="Calibri"/>
              </a:rPr>
              <a:t>Working session — for discussion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822960"/>
            <a:ext cx="6949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WHAT YOU'LL 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097280"/>
            <a:ext cx="69494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>
                <a:solidFill>
                  <a:srgbClr val="1F2937"/>
                </a:solidFill>
                <a:latin typeface="Calibri"/>
              </a:rPr>
              <a:t>A working pricing &amp; scoping platform engineered for Armanino's deal motion — intake to approval to outbound, with AI grounded in our own historical data and an integration fabric that treats Dynamics, Workday, Intapp and Conga as first-class peers, not bolt-ons.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65760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3886200"/>
            <a:ext cx="32004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40233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Future-built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46320" y="4434840"/>
            <a:ext cx="1920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Provider abstraction means simulated today, live tomorrow — same code path.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86600" y="365760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269480" y="3886200"/>
            <a:ext cx="32004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0233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Defensible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434840"/>
            <a:ext cx="1920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ISO/IEC 42001 AIMS, RBAC, state-machine approvals, per-integration audit log.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509760" y="3657600"/>
            <a:ext cx="2286000" cy="2194560"/>
          </a:xfrm>
          <a:prstGeom prst="roundRect">
            <a:avLst>
              <a:gd name="adj" fmla="val 8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692640" y="3886200"/>
            <a:ext cx="32004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92640" y="4023360"/>
            <a:ext cx="1920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Demonstrable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2640" y="4434840"/>
            <a:ext cx="1920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4B5563"/>
                </a:solidFill>
                <a:latin typeface="Calibri"/>
              </a:rPr>
              <a:t>Every screen in this deck is in the running app behind us — not concept art.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WHERE WE ARE TODAY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Pricing &amp; scoping is the bottleneck — and the moat is leaking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2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5532120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61848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1848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TODAY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84248"/>
            <a:ext cx="5129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 spreadsheet stack pretending to be a 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68296"/>
            <a:ext cx="5129784" cy="3694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Excel workbooks per business unit, with tribal overrides and partner judgment baked into hidden cells.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Pricing logic forks across Tax, Audit, Advisory, Consulting and Outsourcing — no single source of truth.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Risk screening, approvals and project setup all live outside the pricing artifact, reconciled by hand.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AI is absent from the deal motion; comparables, margin and effort estimation rely on memory.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Every new BU, service line or rate change reopens the same change-management debate.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5532120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56248" y="161848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56248" y="161848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COST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56248" y="1984248"/>
            <a:ext cx="5129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What that costs the practice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56248" y="2368296"/>
            <a:ext cx="5129784" cy="36941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Cycle time: scoping a complex pursuit takes days, not the hours the market expects.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Margin leak: undocumented overrides defeat the rate card; lessons from won/lost deals do not compound.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Risk exposure: independence and conflict checks happen late, inconsistently, and without an audit trail.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Adoption ceiling: a platform that lives in Excel cannot host the next generation of AI use cases.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Strategic optionality: cannot extend into proposals, contracts or post-deal analytics from this base.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THE DEALPAD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One platform, four reinforcing pillars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3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2636443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6459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194560"/>
            <a:ext cx="21792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Intelligent intake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2624328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2179243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Auto-open Intapp Intake on deal creation.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Conflict + sanctions + PEP + independence + ethics matrix in one pass.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Accept-gate before scoping starts — risk findings ride with the deal.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67963" y="1417320"/>
            <a:ext cx="2636443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96563" y="16459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96563" y="2194560"/>
            <a:ext cx="21792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Scoped pricing engine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96563" y="2624328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96563" y="2788920"/>
            <a:ext cx="2179243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Seven-tier role hierarchy, complexity multipliers (0.8×–1.5×).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Scope catalog drives margin, fee and cost recalculation in real time.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Auto-generated Standard / Premium / Value scenarios with AI reasoning attached.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87286" y="1417320"/>
            <a:ext cx="2636443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15886" y="16459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Calibri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15886" y="2194560"/>
            <a:ext cx="21792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AI as a teammate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15886" y="2624328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5886" y="2788920"/>
            <a:ext cx="2179243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Five calibrated use cases: similarity, effort, margin, scenarios, risk.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Grounded in Armanino's own history — not a generic vendor model.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Every AI output is overridable, captured for ISO 42001 evidence.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06609" y="1417320"/>
            <a:ext cx="2636443" cy="484632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209" y="1645920"/>
            <a:ext cx="1097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1">
                <a:solidFill>
                  <a:srgbClr val="6D28D9"/>
                </a:solidFill>
                <a:latin typeface="Calibri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209" y="2194560"/>
            <a:ext cx="2179243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Federated approvals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35209" y="2624328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209" y="2788920"/>
            <a:ext cx="2179243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Six personas (PDL, SLL, PO, FIN, QRM, IT) with per-feature RBAC.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State-machine routing, no skipping, no silent reopens.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Outbound to Dynamics, Workday, Intapp and Conga on the right trigger.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HOW WE'LL SPEND THE NEXT SEVEN MINUTES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Demo path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4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Four beats, in the order a real pursuit moves. We will run the live app for each beat — this deck is just the map.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057400"/>
            <a:ext cx="141732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05740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Beat 1 · 1.5 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201168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Intelligent intake &amp; screening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237744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Create a deal → Intapp Intake auto-opens → Screening runs (sanctions, PEP, independence, ethics matrix) → accept-gate releases scoping.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971800"/>
            <a:ext cx="110944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3127248"/>
            <a:ext cx="141732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127248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Beat 2 · 2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48840" y="3081528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Scoped pricing &amp; AI scenarios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447288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Build the scope from the catalog → roles + complexity recompute fees live → AI generates Standard / Premium / Value with reasoning attached.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4041648"/>
            <a:ext cx="110944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4197096"/>
            <a:ext cx="141732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97096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Beat 3 · 2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15137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Approvals, risk &amp; mitigations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48840" y="4517136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Submit for approval → routing across the six-persona matrix → mitigations resolved/waived push back to Intapp Risk in real time.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5111496"/>
            <a:ext cx="110944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5266944"/>
            <a:ext cx="1417320" cy="292608"/>
          </a:xfrm>
          <a:prstGeom prst="rect">
            <a:avLst/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5266944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Beat 4 · 1.5 min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148840" y="5221224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Outbound integrations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48840" y="5586984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On approval, fan-out fires: Dynamics customer + opportunity, Workday project + budget reserve, Intapp outcome, Conga letter on demand.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181344"/>
            <a:ext cx="11094415" cy="9525"/>
          </a:xfrm>
          <a:prstGeom prst="rect">
            <a:avLst/>
          </a:prstGeom>
          <a:solidFill>
            <a:srgbClr val="E2E8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DEMO · BEAT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Intelligent intake &amp; screening — Intapp as one provider, two modules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5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949440" cy="4937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5727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LIVE 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38528"/>
            <a:ext cx="6547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From 'New deal' to 'Cleared to scope'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22576"/>
            <a:ext cx="6547104" cy="3785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Pursuit lead opens DealPad → New deal → captures client, BU, service line, estimated fee.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Server awaits ensureIntakeRequest() — Intapp Intake request is created with the deal payload before scoping unlocks.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Intake matrix runs: relationship years ≥ 7 + regulated industry triggers the ethics matrix; auto-accept gate determines whether scoping is released or blocked pending review.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Screening fires in parallel — seven hit types: sanctions watchlist, industry restriction, PEP, independence, conflict-of-interest, regulatory review, fee-threshold (auto-add at fee ≥ $500k).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Findings render as severity-coded pills on the deal header. QRM owns mitigations from this point; the deal cannot finalize while any high-severity finding is open.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80" y="1371600"/>
            <a:ext cx="4114800" cy="4937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27848" y="157276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8" y="15727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WHAT TO WATCH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7848" y="1938528"/>
            <a:ext cx="37124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The product moves to flag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322576"/>
            <a:ext cx="3712464" cy="3785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One Intapp brand, two cooperating modules — Intake and Screening — with separate provider interfaces under the hood.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Risk findings are part of the deal, not a side report.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Outcome push and mitigation push fire on different triggers — see Beat 4.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Same code path runs against the simulator today and against live Intapp tomorrow.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DEMO · BEAT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Scoped pricing engine and AI scenarios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6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371600"/>
            <a:ext cx="6949440" cy="4937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57276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5727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LIVE WALKTHROUGH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938528"/>
            <a:ext cx="65471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Build the scope, watch the numbers move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2322576"/>
            <a:ext cx="6547104" cy="3785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Pursuit lead picks scope items from the catalog — assemblies, recurring blocks, service-line modules.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Seven-tier role hierarchy and complexity multipliers (0.8× to 1.5×) recompute fee, margin, cost and effort hours on every change.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AI Pricing Advisor surfaces comparable closed-won deals, suggested scenario shape and an effort estimate — every output is overridable.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One click generates Standard / Premium / Value scenarios side-by-side with AI reasoning attached, ready to walk a client through.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Margin Advisor flags the floor; scenarios that breach it cannot be submitted without an explicit override + captured rationale.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80" y="1371600"/>
            <a:ext cx="4114800" cy="493776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927848" y="157276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27848" y="157276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WHAT TO WATCH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27848" y="1938528"/>
            <a:ext cx="371246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Where DealPad moves past CPQ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27848" y="2322576"/>
            <a:ext cx="3712464" cy="37856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Service-hour pricing, not SKUs — assemblies, not catalog items.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AI is grounded in Armanino history; suggestions cite the deals they came from.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Every override is captured as ISO/IEC 42001 evidence, not a free-text note.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Margin is a guarded property of the scenario, not an after-the-fact spreadsheet check.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DEMO · BEAT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Approvals, risk and mitigations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7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APPROVAL STATE MACHINE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Draft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1709013" y="1764792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211933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11933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In review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2306" y="1764792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875226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875226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PDL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5035599" y="1764792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38519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38519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SLL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698892" y="1764792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201812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01812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FIN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8362185" y="1764792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865105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865105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QRM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10025478" y="1764792"/>
            <a:ext cx="457200" cy="182880"/>
          </a:xfrm>
          <a:prstGeom prst="rightArrow">
            <a:avLst/>
          </a:prstGeom>
          <a:solidFill>
            <a:srgbClr val="8B95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10528398" y="1600200"/>
            <a:ext cx="1114653" cy="5029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528398" y="1600200"/>
            <a:ext cx="1114653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Calibri"/>
              </a:rPr>
              <a:t>Approved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606040"/>
            <a:ext cx="5532120" cy="36576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49808" y="28072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49808" y="28072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LIVE WALKTHROUGH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8" y="3172968"/>
            <a:ext cx="5129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Routing in the demo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3557016"/>
            <a:ext cx="5129784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Pursuit lead submits — six gates evaluate; only the relevant approvers get notified.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AI risk summary is attached to the approval card — approvers see the why, not just the ask.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QRM resolves or waives a mitigation — autoPushMitigation fires immediately back to Intapp.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Final approver clicks approve → state moves to Approved → outbound fan-out begins.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55080" y="2606040"/>
            <a:ext cx="5532120" cy="365760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556248" y="2807208"/>
            <a:ext cx="914400" cy="256032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6248" y="2807208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900" b="1">
                <a:solidFill>
                  <a:srgbClr val="6D28D9"/>
                </a:solidFill>
                <a:latin typeface="Calibri"/>
              </a:rPr>
              <a:t>GOVERNANCE BUILT 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56248" y="3172968"/>
            <a:ext cx="5129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Why product can defend this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56248" y="3557016"/>
            <a:ext cx="5129784" cy="2505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No skipping, no silent reopens — state transitions are server-enforced.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Per-feature RBAC across PDL, SLL, PO, FIN, QRM, IT.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Per-deal audit trail: who, what, when, with the AI narrative they saw at decision time.</a:t>
            </a: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Mitigation push and outcome push fire on independent triggers — clean event seams.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DEMO · BEAT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Outbound integrations — the fan-out on approval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8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Each integration is on its own trigger. Provider abstraction means the simulator we'll demo is the same code path that will hit the live system.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19"/>
            <a:ext cx="2650159" cy="443484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1874519"/>
            <a:ext cx="2650159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194559"/>
            <a:ext cx="2192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Dynamics 365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651759"/>
            <a:ext cx="2192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Customer + opportunity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063239"/>
            <a:ext cx="2192959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Trigger: deal approved or rejected.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autoPushDeal pushes the deal envelope.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Per-integration audit log entry.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63391" y="1874519"/>
            <a:ext cx="2650159" cy="443484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63391" y="1874519"/>
            <a:ext cx="2650159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91991" y="2194559"/>
            <a:ext cx="2192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Workday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1991" y="2651759"/>
            <a:ext cx="2192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Project + budget reserve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91991" y="3063239"/>
            <a:ext cx="2192959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Trigger: deal approved only.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autoPushWorkdayProject runs an atomic committed-budget reserve.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Rejection does not create a project.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8142" y="1874519"/>
            <a:ext cx="2650159" cy="443484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8142" y="1874519"/>
            <a:ext cx="2650159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6742" y="2194559"/>
            <a:ext cx="2192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Intapp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6742" y="2651759"/>
            <a:ext cx="2192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Outcome + mitigation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6742" y="3063239"/>
            <a:ext cx="2192959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Outcome push on approved or rejected.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Mitigation push on each resolve / waive / reject event.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One brand, two cooperating modules.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92893" y="1874519"/>
            <a:ext cx="2650159" cy="4434840"/>
          </a:xfrm>
          <a:prstGeom prst="roundRect">
            <a:avLst>
              <a:gd name="adj" fmla="val 6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992893" y="1874519"/>
            <a:ext cx="2650159" cy="164592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21493" y="2194559"/>
            <a:ext cx="2192959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0B1F3A"/>
                </a:solidFill>
                <a:latin typeface="Calibri"/>
              </a:rPr>
              <a:t>Conga CLM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21493" y="2651759"/>
            <a:ext cx="2192959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Letter generate + deliver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21493" y="3063239"/>
            <a:ext cx="2192959" cy="3063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Explicit, user-initiated flow — not approval-triggered.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Generate endpoint then deliver endpoint, both audited.</a:t>
            </a:r>
          </a:p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Keeps document delivery a deliberate human moment.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ARCHITECTURE POSTURE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Why this stack is defensible — and extensible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9 / 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17320"/>
            <a:ext cx="3545738" cy="48463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373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Provider abstraction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240280"/>
            <a:ext cx="299709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Simulated → live by configuration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651760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834640"/>
            <a:ext cx="2997098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Every integration sits behind a typed provider interface — Dynamics, Workday, Intapp (Intake + Screening), Conga, Power BI.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Mode flag flips simulator to live without touching call sites.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Lets us prove the product end-to-end before live credentials exist.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22978" y="1417320"/>
            <a:ext cx="3545738" cy="48463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7298" y="17373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AIMS as a moat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7298" y="2240280"/>
            <a:ext cx="299709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ISO/IEC 42001 evidence, owned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7298" y="2651760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7298" y="2834640"/>
            <a:ext cx="2997098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Per-tenant AI Management System: model purpose, dataset lineage, monitoring, override capture.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Horizontal SaaS vendors carry a vendor-scoped AIMS, not a firm-specific one.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Audit-ready from day one, not retrofitted under deadline pressure.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97316" y="1417320"/>
            <a:ext cx="3545738" cy="484632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1636" y="1737360"/>
            <a:ext cx="299709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0B1F3A"/>
                </a:solidFill>
                <a:latin typeface="Calibri"/>
              </a:rPr>
              <a:t>Bounded contexts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71636" y="2240280"/>
            <a:ext cx="299709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Clean seams for the next agent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71636" y="2651760"/>
            <a:ext cx="457200" cy="28575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71636" y="2834640"/>
            <a:ext cx="2997098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Deal, Scope, Pricing, Approval, Risk &amp; Compliance, Resource &amp; Budget, Engagement Documents — each owns its data and endpoints.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Approval emits deal_approved / deal_rejected; downstream contexts react.</a:t>
            </a:r>
          </a:p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00" b="1">
                <a:solidFill>
                  <a:srgbClr val="6D28D9"/>
                </a:solidFill>
                <a:latin typeface="Calibri"/>
              </a:rPr>
              <a:t>• </a:t>
            </a:r>
            <a:r>
              <a:rPr sz="1100">
                <a:solidFill>
                  <a:srgbClr val="1F2937"/>
                </a:solidFill>
                <a:latin typeface="Calibri"/>
              </a:rPr>
              <a:t>An autonomous engagement-letter agent can subscribe later without touching approval logic.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56032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1">
                <a:solidFill>
                  <a:srgbClr val="6D28D9"/>
                </a:solidFill>
                <a:latin typeface="Calibri"/>
              </a:rPr>
              <a:t>WHAT WE WANT FROM THE NEXT 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029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0B1F3A"/>
                </a:solidFill>
                <a:latin typeface="Calibri"/>
              </a:rPr>
              <a:t>Three conversations that unblock everything else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078992"/>
            <a:ext cx="640080" cy="28575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DealPad — NextGenApp Pricing &amp; Scoping 2.0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9224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900" b="0">
                <a:solidFill>
                  <a:srgbClr val="8B95A5"/>
                </a:solidFill>
                <a:latin typeface="Calibri"/>
              </a:rPr>
              <a:t>10 / 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32588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4B5563"/>
                </a:solidFill>
                <a:latin typeface="Calibri"/>
              </a:rPr>
              <a:t>These are the answers that re-shape the build. We would rather surface them now than discover them in week six.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1965960"/>
            <a:ext cx="777240" cy="7772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965960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4767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Pricing parity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7744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Can we get the canonical Excel workbooks per BU — with sample inputs and expected outputs — to use as the regression suite for parallel-run? Without this we have no objective definition of done.</a:t>
            </a:r>
          </a:p>
        </p:txBody>
      </p:sp>
      <p:sp>
        <p:nvSpPr>
          <p:cNvPr id="13" name="Oval 12"/>
          <p:cNvSpPr/>
          <p:nvPr/>
        </p:nvSpPr>
        <p:spPr>
          <a:xfrm>
            <a:off x="548640" y="3291840"/>
            <a:ext cx="777240" cy="7772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291840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327355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AI policy &amp; data boundaries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70332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What is the firm's AI policy — approved LLMs, hosting model, data residency, PII / PCI / client-confidential handling, and what data may we ground the model on? This single answer redirects the AI architecture.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4617720"/>
            <a:ext cx="777240" cy="77724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617720"/>
            <a:ext cx="77724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4599432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Platform constraints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029200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Is there an IT or Procurement preference — or a veto — for Salesforce, Conga, or any Microsoft-stack component we should know about up front? Late-surfacing platform mandates are the most common way custom-builds die.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