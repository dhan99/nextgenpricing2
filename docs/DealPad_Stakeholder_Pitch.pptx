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164592"/>
          </a:xfrm>
          <a:prstGeom prst="rect">
            <a:avLst/>
          </a:prstGeom>
          <a:solidFill>
            <a:srgbClr val="949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DealPad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Pricing &amp; Scoping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From Excel sprawl to AI-native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Tax-first.   Phased.   Indispensable.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F2A37"/>
                </a:solidFill>
                <a:latin typeface="Calibri"/>
              </a:rPr>
              <a:t>A 5-phase plan to replace the Excel pricing workbooks with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F2A37"/>
                </a:solidFill>
                <a:latin typeface="Calibri"/>
              </a:rPr>
              <a:t>governed, AI-native platform integrated with the Quote-to-Cash stack.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A90"/>
                </a:solidFill>
                <a:latin typeface="Calibri"/>
              </a:rPr>
              <a:t>Stakeholder briefing  |  Armanino DealPad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949300"/>
                </a:solidFill>
                <a:latin typeface="Calibri"/>
              </a:rPr>
              <a:t>Live demo: https://dealpad-demo.onrender.com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The pain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49300"/>
                </a:solidFill>
                <a:latin typeface="Calibri"/>
              </a:rPr>
              <a:t>Pricing today is an Excel sprawl. It doesn't scale, audit, or learn.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61188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4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337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46B4F"/>
                </a:solidFill>
                <a:latin typeface="Calibri"/>
              </a:rPr>
              <a:t>Calculation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337560" cy="34747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200+ Excel workbooks across BUs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No calc audit; one bad cell = wrong fee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Each renewal cycle re-derives logic by hand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Tax: 4-entity engagements stitched across tabs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611880" cy="4206240"/>
          </a:xfrm>
          <a:prstGeom prst="roundRect">
            <a:avLst>
              <a:gd name="adj" fmla="val 10000"/>
            </a:avLst>
          </a:prstGeom>
          <a:solidFill>
            <a:srgbClr val="FFF1DA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91640"/>
            <a:ext cx="3337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A720F"/>
                </a:solidFill>
                <a:latin typeface="Calibri"/>
              </a:rPr>
              <a:t>Process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337560" cy="34747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Manual approvals over email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No version control on workbooks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Tax-season renewals = days of copy-paste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Prior-year baseline not auto-loaded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61188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7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91640"/>
            <a:ext cx="3337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B4F9E"/>
                </a:solidFill>
                <a:latin typeface="Calibri"/>
              </a:rPr>
              <a:t>Lost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3337560" cy="34747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PDL judgment locked in spreadsheets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Cannot search 'similar deals' across firm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Margin patterns unrecoverable post-engagement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Excel can't host AI assistance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2A37"/>
                </a:solidFill>
                <a:latin typeface="Calibri"/>
              </a:rPr>
              <a:t>The cost: margin leakage, audit exposure, and a ceiling on how much business Armanino can scoop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The strategic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49300"/>
                </a:solidFill>
                <a:latin typeface="Calibri"/>
              </a:rPr>
              <a:t>One platform. Tax-first. AI-native. Quote-to-Cash integrated.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6B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64592" cy="1828800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6B9E4F"/>
                </a:solidFill>
                <a:latin typeface="Calibri"/>
              </a:rPr>
              <a:t>Calc parity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Reproduces every BU's Excel workbook outcomes,
golden-tested at the cent.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4864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164592" cy="1828800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DA720F"/>
                </a:solidFill>
                <a:latin typeface="Calibri"/>
              </a:rPr>
              <a:t>Tax-first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Multi-entity worksheets, assembly engine,
batch-renewal pipeline shipping in Phase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64592" cy="18288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3B6EA8"/>
                </a:solidFill>
                <a:latin typeface="Calibri"/>
              </a:rPr>
              <a:t>AI from day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Heuristic Phase 1 → real LLMs Phase 2 →
vector intelligence Phase 3 → trained ML Phase 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4864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7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164592" cy="1828800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7B4F9E"/>
                </a:solidFill>
                <a:latin typeface="Calibri"/>
              </a:rPr>
              <a:t>Q2C 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7200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D365 (Phase 1) → Workday (Phase 3) →
Intapp Intake + Screening (Phase 4) → Conga.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949300"/>
                </a:solidFill>
                <a:latin typeface="Calibri"/>
              </a:rPr>
              <a:t>Outcome: governed, scaleable, AI-driven, audit-ready, indispensable.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Solution 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49300"/>
                </a:solidFill>
                <a:latin typeface="Calibri"/>
              </a:rPr>
              <a:t>Personas drive the workflow; integrations land in phases; AI sits horizontally.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7472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474720" cy="502920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3383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Project Delivery Lead (PDL)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Service Line Lead (SLL)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Pricing Operations (PO)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Finance / FP&amp;A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Risk / QRM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IT / Data Consumers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54480"/>
            <a:ext cx="347472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49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554480"/>
            <a:ext cx="3474720" cy="502920"/>
          </a:xfrm>
          <a:prstGeom prst="rect">
            <a:avLst/>
          </a:prstGeom>
          <a:solidFill>
            <a:srgbClr val="949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27632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DealPad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3200400" cy="3383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Wizard (Setup → Approve)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Multi-entity scope + assemblies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Pricing engine + alt fee arrangements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Approvals + audit + outbox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AI engine (heuristic / LLM / vector / ML)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54480"/>
            <a:ext cx="347472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554480"/>
            <a:ext cx="3474720" cy="50292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627632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External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194560"/>
            <a:ext cx="3200400" cy="3383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Dynamics 365  (Phase 1+)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Workday Adaptive  (Phase 3+)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Intapp Intake + Screening  (Phase 4)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Conga CLM  (Phase 3+)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F2A37"/>
                </a:solidFill>
                <a:latin typeface="Calibri"/>
              </a:rPr>
              <a:t>• Power BI  (Phase 4+)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6B7A90"/>
                </a:solidFill>
                <a:latin typeface="Calibri"/>
              </a:rPr>
              <a:t>Outputs: branded proposals, engagement letters, Workday hours, Power BI feeds, AI cost telemetry.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949300"/>
                </a:solidFill>
                <a:latin typeface="Calibri"/>
              </a:rPr>
              <a:t>Foundation in place today (POC at https://dealpad-demo.onrender.com): every layer has been validated end-to-end.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PHASE 1  •  8–10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Phase 1 — Excel Parity + Tax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6B9E4F"/>
                </a:solidFill>
                <a:latin typeface="Calibri"/>
              </a:rPr>
              <a:t>Same numbers as your Excel workbooks. Tax-first scope. Heuristic AI from day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6B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46304" cy="1874519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9E4F"/>
                </a:solidFill>
                <a:latin typeface="Calibri"/>
              </a:rPr>
              <a:t>Pricing engine +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Calc-parity golden test pinned against current Excel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8-step wizard (Setup → Approve), versioning, audit trail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RBAC across 6 personas + tiered approvals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T&amp;M arrangement; engagement letter export (HTML/PDF)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6B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146304" cy="1874519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9E4F"/>
                </a:solidFill>
                <a:latin typeface="Calibri"/>
              </a:rPr>
              <a:t>Tax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Scope catalog: 1040 / 1120 / 1065 / 1120S / Schedule K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Tax PHB Standard Bundle assembly + tier overrides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Multi-entity worksheets (4 entity tabs on one deal)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Tax-specific prompt set (entity type, complexity, PY ref)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6B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46304" cy="1874519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9E4F"/>
                </a:solidFill>
                <a:latin typeface="Calibri"/>
              </a:rPr>
              <a:t>AI (heuristic)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Deal Similarity, Effort Estimation, Margin Advisor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Risk Summary with simulated narrative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All seams in place — no API key dependency yet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AI telemetry table provisioned, ready for Phase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6B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146304" cy="1874519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9E4F"/>
                </a:solidFill>
                <a:latin typeface="Calibri"/>
              </a:rPr>
              <a:t>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Dynamics 365 inbound: account / opportunity context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Auto-create DealPad client + deal on import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D365 owners + quotas synced for routing visibility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Workday + Intapp + Conga: read-only catalog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FF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0644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A720F"/>
                </a:solidFill>
                <a:latin typeface="Calibri"/>
              </a:rPr>
              <a:t>Marquee demo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80644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Import Crestwood Holdings opp from D365 → walk a 4-entity Tax PHB engagement end-to-end → prove calc parity against the equivalent Excel workbook on the same screen.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Calc parity = credibility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Tax-first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seams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PHASE 2  •  8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Phase 2 — Pricing Sophistication + Real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A720F"/>
                </a:solidFill>
                <a:latin typeface="Calibri"/>
              </a:rPr>
              <a:t>Tax-season scale. Six fee models. Real LLM narratives powering approval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46304" cy="1874519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A720F"/>
                </a:solidFill>
                <a:latin typeface="Calibri"/>
              </a:rPr>
              <a:t>Pricing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Assembly engine (math.js sandbox; PHB → 87 line items / tier)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All 6 fee arrangements: Fixed / Capped / Contingent /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   Retainer / Hybrid / T&amp;M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Per-deal margin-target overrides + engagement-input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146304" cy="1874519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A720F"/>
                </a:solidFill>
                <a:latin typeface="Calibri"/>
              </a:rPr>
              <a:t>Tax-season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Batch renewal processor — 200+ Tax deals in one job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Adjustment rules (rate uplift, hour adjust, margin override)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Renewal Leadsheet with prior-year baseline + YoY delta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Margin-targets governance (firm/BU/serviceLine)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46304" cy="1874519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A720F"/>
                </a:solidFill>
                <a:latin typeface="Calibri"/>
              </a:rPr>
              <a:t>AI (real LLMs)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Anthropic Claude / OpenAI / Azure flag-controlled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Risk Summary, Margin Advisor, Scenario Recommendation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   power structured narratives via llm.completeStructured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AI telemetry dashboard live: token cost, p95 latency, errors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146304" cy="1874519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A720F"/>
                </a:solidFill>
                <a:latin typeface="Calibri"/>
              </a:rPr>
              <a:t>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D365 bi-directional: status / owner / amount push back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   on changes; auto-push on approval transitions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Workday cost-center read for visibility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Conga CLM template selection on engagement letter step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FF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0644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A720F"/>
                </a:solidFill>
                <a:latin typeface="Calibri"/>
              </a:rPr>
              <a:t>Marquee demo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80644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Run the Tax-season renewal batch over 50 Tax deals with a 5% rate uplift + tier override rule → flagged variances → real LLM-narrated risk summary on a flagged deal.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Tax-season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Six fee models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 LLM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PHASE 3  •  8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Phase 3 — Intelligence Engine: Vectors, Voice, Watchdogs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3B6EA8"/>
                </a:solidFill>
                <a:latin typeface="Calibri"/>
              </a:rPr>
              <a:t>Sub-500ms 'similar deals.' Voice memos become scope. Scope-creep flagged before deals miss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46304" cy="1874519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B6EA8"/>
                </a:solidFill>
                <a:latin typeface="Calibri"/>
              </a:rPr>
              <a:t>Vector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pgvector deal similarity (1536-dim embeddings)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Sub-500ms k-NN against thousands of historical deals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Lazy backfill on first query; provider-swappable embeddings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Tax engagement embeddings for Tax-context similarity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146304" cy="1874519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B6EA8"/>
                </a:solidFill>
                <a:latin typeface="Calibri"/>
              </a:rPr>
              <a:t>Predictive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Voice-to-scope: audio → transcription → scope candidates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Predictive Scope Creep Detector: 5 signal types,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   ML-swap-ready evaluate() seam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Dynamic rate optimizer (capacity + velocity + margin)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46304" cy="1874519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B6EA8"/>
                </a:solidFill>
                <a:latin typeface="Calibri"/>
              </a:rPr>
              <a:t>Time +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Time tracking + AI-suggested time entries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Budget-to-actuals monitoring with thresholds + alerts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Time-entry-driven actuals (replaces heuristic projection)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Cost / fee variance tracked at deal + entity granularity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146304" cy="1874519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B6EA8"/>
                </a:solidFill>
                <a:latin typeface="Calibri"/>
              </a:rPr>
              <a:t>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Workday push: project commitment + cost-center bump 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   approval; idempotent via activity_log guard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Conga CLM engagement-letter delivery (email/eSign/portal)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Power BI feed (foundation only; full feed in Phase 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FF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0644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A720F"/>
                </a:solidFill>
                <a:latin typeface="Calibri"/>
              </a:rPr>
              <a:t>Marquee demo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80644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PDL records voice memo from Tax client meeting → scope items extracted with confidence scores → applied to deal in 90 seconds, with vector similarity surfacing 5 historical Tax deals at this margin profile.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Vector similarity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Voice → scope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Predictive watchdog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PHASE 4  •  8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Phase 4 — Intapp Integration + Client Maturity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B4F9E"/>
                </a:solidFill>
                <a:latin typeface="Calibri"/>
              </a:rPr>
              <a:t>Intapp Intake + Screening as primary touch points. Live client portal. Real-time PDL collaboration.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7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46304" cy="1874519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B4F9E"/>
                </a:solidFill>
                <a:latin typeface="Calibri"/>
              </a:rPr>
              <a:t>Intapp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AI confidence-routed extraction: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   high-conf intakes auto-progress; low-conf → reviewer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Tax client intake → DealPad scope candidates auto-seeded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Reviewer matrix mapped to PDL / SLL / QRM personas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7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146304" cy="1874519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B4F9E"/>
                </a:solidFill>
                <a:latin typeface="Calibri"/>
              </a:rPr>
              <a:t>Intapp Risk 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Bi-directional: nightly re-screen + screening results sync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Conflict + mitigation lifecycle integrated into approval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Outcome push on approval/rejection; mitigation status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Pre-submit gate blocks submission on conflicts (overridable)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7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46304" cy="1874519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B4F9E"/>
                </a:solidFill>
                <a:latin typeface="Calibri"/>
              </a:rPr>
              <a:t>Client +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Magic-link client portal (SHA-256 hashed tokens; no account)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Read-only proposal + scope review for clients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Yjs real-time collaborative scoping (multi-PDL editing)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Domain-driven refactor wraps Phase 4 (Service Bus / Kafka ready)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7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146304" cy="1874519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B4F9E"/>
                </a:solidFill>
                <a:latin typeface="Calibri"/>
              </a:rPr>
              <a:t>Reporting +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Power BI data feeds for renewal tracking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Configurable approval workflows per BU / exception type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Out-of-scope add-on separation; multi-year / term modeling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Geo / offshore discount engine; Tax-firm geo applied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FF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0644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A720F"/>
                </a:solidFill>
                <a:latin typeface="Calibri"/>
              </a:rPr>
              <a:t>Marquee demo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80644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New Tax client → Intapp Intake → DealPad deal seeded with scope → Intapp screens for conflicts → PDL + SLL collaborate live on scope → Tax client reviews proposal via magic-link.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Intapp Intake live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Intapp Screening live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Real-time 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PHASE 5  •  8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Phase 5 — Production Hardening + Trained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4F9E9C"/>
                </a:solidFill>
                <a:latin typeface="Calibri"/>
              </a:rPr>
              <a:t>Models trained on YOUR Tax history. Multi-region production. Slack/Teams. Ready for the long tail.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F9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46304" cy="1874519"/>
          </a:xfrm>
          <a:prstGeom prst="rect">
            <a:avLst/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4F9E9C"/>
                </a:solidFill>
                <a:latin typeface="Calibri"/>
              </a:rPr>
              <a:t>Trained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Effort estimator: sklearn / Azure ML on Armanino Tax history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Margin LP optimizer replaces heuristic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Per-tenant tuning; model-version tracking in AI telemetry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Goal: &lt;10% MAPE on effort estimation across Tax engagements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F9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146304" cy="1874519"/>
          </a:xfrm>
          <a:prstGeom prst="rect">
            <a:avLst/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6479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4F9E9C"/>
                </a:solidFill>
                <a:latin typeface="Calibri"/>
              </a:rPr>
              <a:t>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Slack native app: approval prompts + slash commands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Teams native app: channel-bound notifications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Scope-creep + budget alerts pushed to ops channels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Batch-renewal completion notifications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F9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46304" cy="1874519"/>
          </a:xfrm>
          <a:prstGeom prst="rect">
            <a:avLst/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4F9E9C"/>
                </a:solidFill>
                <a:latin typeface="Calibri"/>
              </a:rPr>
              <a:t>Production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Multi-region failover; observability stack (Datadog or eq.)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Per-deal AI cost attribution; model-version tracking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SOC compliance posture; audit retention policy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Configurable approval workflows + exception thresholds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48640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F9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146304" cy="1874519"/>
          </a:xfrm>
          <a:prstGeom prst="rect">
            <a:avLst/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7647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4F9E9C"/>
                </a:solidFill>
                <a:latin typeface="Calibri"/>
              </a:rPr>
              <a:t>Long-tail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60520"/>
            <a:ext cx="5120640" cy="13715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Out-of-scope add-on tracking + approval acknowledgement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Multi-year / term modeling for Tax retainers + price escalators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Geo / offshore discount rules engine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Fast-track approval + delegation / backup approvers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FF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0644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A720F"/>
                </a:solidFill>
                <a:latin typeface="Calibri"/>
              </a:rPr>
              <a:t>Marquee demo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806440"/>
            <a:ext cx="9144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Trained effort estimator validated against 100 historical Tax engagements (&lt;10% MAPE) → per-deal AI cost report → Slack approval flow → multi-region failover drill.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Tax-trained 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Slack / Teams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6446520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Production-hardened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AI layered phase-by-phase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49300"/>
                </a:solidFill>
                <a:latin typeface="Calibri"/>
              </a:rPr>
              <a:t>From heuristic seams to real LLMs to vectors to trained ML — without ripping out the stack.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203704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6B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203704" cy="502920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64792"/>
            <a:ext cx="202082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6B9E4F"/>
                </a:solidFill>
                <a:latin typeface="Calibri"/>
              </a:rPr>
              <a:t>Heuristic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929384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Calibri"/>
              </a:rPr>
              <a:t>Deal Similarity, Effort Estimation,
Margin Advisor, Risk Summary —
simulated narratives, deterministic.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12080"/>
            <a:ext cx="1929384" cy="36576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  <a:latin typeface="Calibri"/>
              </a:rPr>
              <a:t>Seams in place; no API key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2344" y="1691640"/>
            <a:ext cx="2203704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2344" y="1691640"/>
            <a:ext cx="2203704" cy="502920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1764792"/>
            <a:ext cx="202082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3317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DA720F"/>
                </a:solidFill>
                <a:latin typeface="Calibri"/>
              </a:rPr>
              <a:t>Real LLMs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3063240"/>
            <a:ext cx="1929384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Calibri"/>
              </a:rPr>
              <a:t>Anthropic Claude / OpenAI / Azure
powering risk-summary, margin-advisor,
scenario-recommendation narratives.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9504" y="5212080"/>
            <a:ext cx="1929384" cy="36576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9504" y="53035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  <a:latin typeface="Calibri"/>
              </a:rPr>
              <a:t>AI telemetry dashboard live
from day 1 of LLM wiring.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1691640"/>
            <a:ext cx="2203704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01768" y="1691640"/>
            <a:ext cx="2203704" cy="50292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8" y="1764792"/>
            <a:ext cx="202082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3317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3B6EA8"/>
                </a:solidFill>
                <a:latin typeface="Calibri"/>
              </a:rPr>
              <a:t>Vector + Voice + Predictive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063240"/>
            <a:ext cx="1929384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Calibri"/>
              </a:rPr>
              <a:t>pgvector deal similarity (1536-dim,
&lt;500ms k-NN); voice-to-scope;
scope-creep detector across 5 signals.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8" y="5212080"/>
            <a:ext cx="1929384" cy="36576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53035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  <a:latin typeface="Calibri"/>
              </a:rPr>
              <a:t>Provider-swappable embeddings;
ML-model-ready evaluate() seam.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51192" y="1691640"/>
            <a:ext cx="2203704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7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51192" y="1691640"/>
            <a:ext cx="2203704" cy="502920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2632" y="1764792"/>
            <a:ext cx="202082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3317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7B4F9E"/>
                </a:solidFill>
                <a:latin typeface="Calibri"/>
              </a:rPr>
              <a:t>Intapp AI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3063240"/>
            <a:ext cx="1929384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Calibri"/>
              </a:rPr>
              <a:t>Intake AI confidence-routed extraction:
high-conf auto-progress,
low-conf reviewer matrix.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5212080"/>
            <a:ext cx="1929384" cy="36576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53035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  <a:latin typeface="Calibri"/>
              </a:rPr>
              <a:t>AI sits ON the integration —
Intake feeds DealPad scope.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0616" y="1691640"/>
            <a:ext cx="2203704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F9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0616" y="1691640"/>
            <a:ext cx="2203704" cy="502920"/>
          </a:xfrm>
          <a:prstGeom prst="rect">
            <a:avLst/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2056" y="1764792"/>
            <a:ext cx="2020824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23317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4F9E9C"/>
                </a:solidFill>
                <a:latin typeface="Calibri"/>
              </a:rPr>
              <a:t>Trained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7776" y="3063240"/>
            <a:ext cx="1929384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Calibri"/>
              </a:rPr>
              <a:t>Effort estimator + margin LP solver
trained on Armanino's historical
Tax / Audit engagement history.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37776" y="5212080"/>
            <a:ext cx="1929384" cy="36576"/>
          </a:xfrm>
          <a:prstGeom prst="rect">
            <a:avLst/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37776" y="5303520"/>
            <a:ext cx="192938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  <a:latin typeface="Calibri"/>
              </a:rPr>
              <a:t>Per-tenant tuning;
model-version tracking.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949300"/>
                </a:solidFill>
                <a:latin typeface="Calibri"/>
              </a:rPr>
              <a:t>Same IntelligenceEngine + llm.ts seams from Phase 1; each phase swaps the implementation, not the contract.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Tax-first: how Tax differentiation grows phase by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49300"/>
                </a:solidFill>
                <a:latin typeface="Calibri"/>
              </a:rPr>
              <a:t>Tax is the demo headline at every milestone.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371600" cy="868680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27632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Tax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554480"/>
            <a:ext cx="9784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6B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600200"/>
            <a:ext cx="9601200" cy="8229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Tax scope catalog seeded:
   1040, 1120, 1065, 1120S, Schedule K, multi-state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Tax PHB Standard Bundle assembly with tier overrides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Multi-entity worksheets — 4-entity Tax engagement on one deal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Tax-specific prompts (entity type, complexity, prior-year)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371600" cy="868680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42032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Tax-season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468880"/>
            <a:ext cx="9784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2514600"/>
            <a:ext cx="9601200" cy="8229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Batch renewal processor — 200+ Tax-renewal deals in one run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Tax-tuned alt fee arrangements (compliance fixed-fee, retainer)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Real LLM Risk Summary on Tax deals (Claude-powered narrative)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Renewal Leadsheet with prior-year Tax baseline + YoY delta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371600" cy="86868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56432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947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Tax intelligence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383280"/>
            <a:ext cx="9784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429000"/>
            <a:ext cx="9601200" cy="8229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Vector similarity tuned on Tax engagement embeddings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Voice-to-scope from Tax client intake calls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Scope-creep detector on Tax-renewal patterns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Tax practice utilization → dynamic rate optimizer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1371600" cy="868680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70832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Tax client lifecycle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4297680"/>
            <a:ext cx="9784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7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343400"/>
            <a:ext cx="9601200" cy="8229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Tax client intake via Intapp → DealPad scope candidates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Conflict screening on Tax engagements (pre-submit gate)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Real-time collaboration: PDL + SLL on a Tax deal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Client portal: Tax client reviews proposal via magic-link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1371600" cy="868680"/>
          </a:xfrm>
          <a:prstGeom prst="rect">
            <a:avLst/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285232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235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Tax ML at production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5212080"/>
            <a:ext cx="9784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4F9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5257800"/>
            <a:ext cx="9601200" cy="8229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Effort estimator trained on Armanino Tax history (&lt;10% MAPE goal)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Margin LP optimizer tuned on Tax practice constraints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Per-tenant Tax catalog (multi-firm scaling)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F2A37"/>
                </a:solidFill>
                <a:latin typeface="Calibri"/>
              </a:rPr>
              <a:t>• Slack/Teams alerts on Tax-deal approvals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DealPad vs the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49300"/>
                </a:solidFill>
                <a:latin typeface="Calibri"/>
              </a:rPr>
              <a:t>Why building forward is the only path that compounds.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6576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4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solidFill>
            <a:srgbClr val="C4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Status quo (Excel)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C46B4F"/>
                </a:solidFill>
              </a:rPr>
              <a:t>✘  </a:t>
            </a:r>
            <a:r>
              <a:rPr sz="1200">
                <a:solidFill>
                  <a:srgbClr val="1F2A37"/>
                </a:solidFill>
              </a:rPr>
              <a:t>No governance, no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61488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C46B4F"/>
                </a:solidFill>
              </a:rPr>
              <a:t>✘  </a:t>
            </a:r>
            <a:r>
              <a:rPr sz="1200">
                <a:solidFill>
                  <a:srgbClr val="1F2A37"/>
                </a:solidFill>
              </a:rPr>
              <a:t>Calc errors per workbook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28416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C46B4F"/>
                </a:solidFill>
              </a:rPr>
              <a:t>✘  </a:t>
            </a:r>
            <a:r>
              <a:rPr sz="1200">
                <a:solidFill>
                  <a:srgbClr val="1F2A37"/>
                </a:solidFill>
              </a:rPr>
              <a:t>Manual renewals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95344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C46B4F"/>
                </a:solidFill>
              </a:rPr>
              <a:t>✘  </a:t>
            </a:r>
            <a:r>
              <a:rPr sz="1200">
                <a:solidFill>
                  <a:srgbClr val="1F2A37"/>
                </a:solidFill>
              </a:rPr>
              <a:t>Cannot host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62272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C46B4F"/>
                </a:solidFill>
              </a:rPr>
              <a:t>✘  </a:t>
            </a:r>
            <a:r>
              <a:rPr sz="1200">
                <a:solidFill>
                  <a:srgbClr val="1F2A37"/>
                </a:solidFill>
              </a:rPr>
              <a:t>Tax 4-entity = tab sprawl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C46B4F"/>
                </a:solidFill>
              </a:rPr>
              <a:t>✘  </a:t>
            </a:r>
            <a:r>
              <a:rPr sz="1200">
                <a:solidFill>
                  <a:srgbClr val="1F2A37"/>
                </a:solidFill>
              </a:rPr>
              <a:t>Lost institutional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6576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657600" cy="50292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27632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Intapp Pricing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DA720F"/>
                </a:solidFill>
              </a:rPr>
              <a:t>◐  </a:t>
            </a:r>
            <a:r>
              <a:rPr sz="1200">
                <a:solidFill>
                  <a:srgbClr val="1F2A37"/>
                </a:solidFill>
              </a:rPr>
              <a:t>Vendor pricing logic — not Armanino's Excel parity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61488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DA720F"/>
                </a:solidFill>
              </a:rPr>
              <a:t>◐  </a:t>
            </a:r>
            <a:r>
              <a:rPr sz="1200">
                <a:solidFill>
                  <a:srgbClr val="1F2A37"/>
                </a:solidFill>
              </a:rPr>
              <a:t>Generic; no Tax-first multi-entity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28416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DA720F"/>
                </a:solidFill>
              </a:rPr>
              <a:t>◐  </a:t>
            </a:r>
            <a:r>
              <a:rPr sz="1200">
                <a:solidFill>
                  <a:srgbClr val="1F2A37"/>
                </a:solidFill>
              </a:rPr>
              <a:t>AI = vendor roadmap, not yours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895344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C46B4F"/>
                </a:solidFill>
              </a:rPr>
              <a:t>✘  </a:t>
            </a:r>
            <a:r>
              <a:rPr sz="1200">
                <a:solidFill>
                  <a:srgbClr val="1F2A37"/>
                </a:solidFill>
              </a:rPr>
              <a:t>Doesn't replace Excel logic 1:1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62272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6B9E4F"/>
                </a:solidFill>
              </a:rPr>
              <a:t>✓  </a:t>
            </a:r>
            <a:r>
              <a:rPr sz="1200">
                <a:solidFill>
                  <a:srgbClr val="1F2A37"/>
                </a:solidFill>
              </a:rPr>
              <a:t>Stays as Intake + Screening source-of-truth (DealPad integrates)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02920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C46B4F"/>
                </a:solidFill>
              </a:rPr>
              <a:t>✘  </a:t>
            </a:r>
            <a:r>
              <a:rPr sz="1200">
                <a:solidFill>
                  <a:srgbClr val="1F2A37"/>
                </a:solidFill>
              </a:rPr>
              <a:t>Build-vs-buy lock-in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554480"/>
            <a:ext cx="36576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6B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554480"/>
            <a:ext cx="3657600" cy="502920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627632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DealPad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9456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6B9E4F"/>
                </a:solidFill>
              </a:rPr>
              <a:t>✓  </a:t>
            </a:r>
            <a:r>
              <a:rPr sz="1200">
                <a:solidFill>
                  <a:srgbClr val="1F2A37"/>
                </a:solidFill>
              </a:rPr>
              <a:t>Calc parity to your workbooks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761488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6B9E4F"/>
                </a:solidFill>
              </a:rPr>
              <a:t>✓  </a:t>
            </a:r>
            <a:r>
              <a:rPr sz="1200">
                <a:solidFill>
                  <a:srgbClr val="1F2A37"/>
                </a:solidFill>
              </a:rPr>
              <a:t>Tax-first multi-entity + assemblies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28416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6B9E4F"/>
                </a:solidFill>
              </a:rPr>
              <a:t>✓  </a:t>
            </a:r>
            <a:r>
              <a:rPr sz="1200">
                <a:solidFill>
                  <a:srgbClr val="1F2A37"/>
                </a:solidFill>
              </a:rPr>
              <a:t>AI Phase 1 → trained ML 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95344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6B9E4F"/>
                </a:solidFill>
              </a:rPr>
              <a:t>✓  </a:t>
            </a:r>
            <a:r>
              <a:rPr sz="1200">
                <a:solidFill>
                  <a:srgbClr val="1F2A37"/>
                </a:solidFill>
              </a:rPr>
              <a:t>Replaces Excel, integrates Intapp Intake/Screening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462272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6B9E4F"/>
                </a:solidFill>
              </a:rPr>
              <a:t>✓  </a:t>
            </a:r>
            <a:r>
              <a:rPr sz="1200">
                <a:solidFill>
                  <a:srgbClr val="1F2A37"/>
                </a:solidFill>
              </a:rPr>
              <a:t>Already 80% built (POC live today)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02920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b="1" sz="1300">
                <a:solidFill>
                  <a:srgbClr val="6B9E4F"/>
                </a:solidFill>
              </a:rPr>
              <a:t>✓  </a:t>
            </a:r>
            <a:r>
              <a:rPr sz="1200">
                <a:solidFill>
                  <a:srgbClr val="1F2A37"/>
                </a:solidFill>
              </a:rPr>
              <a:t>Built around your personas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949300"/>
                </a:solidFill>
                <a:latin typeface="Calibri"/>
              </a:rPr>
              <a:t>DealPad complements Intapp — pricing engine in DealPad, intake &amp; screening in Intapp. Not a competition.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Investment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49300"/>
                </a:solidFill>
                <a:latin typeface="Calibri"/>
              </a:rPr>
              <a:t>5 phases × 8 weeks = 40 weeks. Milestone-gated GO decisions at each handoff.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2240280" cy="502920"/>
          </a:xfrm>
          <a:prstGeom prst="rect">
            <a:avLst/>
          </a:prstGeom>
          <a:solidFill>
            <a:srgbClr val="6B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64792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P1 · 8 wks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67712"/>
            <a:ext cx="2057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A37"/>
                </a:solidFill>
                <a:latin typeface="Calibri"/>
              </a:rPr>
              <a:t>Excel Parity
+ Tax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91640"/>
            <a:ext cx="2240280" cy="502920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P2 · 8 wks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67712"/>
            <a:ext cx="2057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A37"/>
                </a:solidFill>
                <a:latin typeface="Calibri"/>
              </a:rPr>
              <a:t>Pricing
Sophistication
+ Real LLMs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2240280" cy="50292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764792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P3 · 8 wks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67712"/>
            <a:ext cx="2057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A37"/>
                </a:solidFill>
                <a:latin typeface="Calibri"/>
              </a:rPr>
              <a:t>Intelligence
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691640"/>
            <a:ext cx="2240280" cy="502920"/>
          </a:xfrm>
          <a:prstGeom prst="rect">
            <a:avLst/>
          </a:prstGeom>
          <a:solidFill>
            <a:srgbClr val="7B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764792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P4 · 8 wks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67712"/>
            <a:ext cx="2057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A37"/>
                </a:solidFill>
                <a:latin typeface="Calibri"/>
              </a:rPr>
              <a:t>Intapp +
Client Maturity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691640"/>
            <a:ext cx="2240280" cy="502920"/>
          </a:xfrm>
          <a:prstGeom prst="rect">
            <a:avLst/>
          </a:prstGeom>
          <a:solidFill>
            <a:srgbClr val="4F9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764792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P5 · 8 wks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267712"/>
            <a:ext cx="2057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A37"/>
                </a:solidFill>
                <a:latin typeface="Calibri"/>
              </a:rPr>
              <a:t>Production
+ Trained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949300"/>
                </a:solidFill>
                <a:latin typeface="Calibri"/>
              </a:rPr>
              <a:t>Team shape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Calibri"/>
              </a:rPr>
              <a:t>•  Product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8404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Calibri"/>
              </a:rPr>
              <a:t>Full-time, all phases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Calibri"/>
              </a:rPr>
              <a:t>•  Senior Engineers (2)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60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Calibri"/>
              </a:rPr>
              <a:t>Full-time, all phases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8056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Calibri"/>
              </a:rPr>
              <a:t>•  AI/ML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48056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Calibri"/>
              </a:rPr>
              <a:t>Phase 2 onward (full-time from P3)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Calibri"/>
              </a:rPr>
              <a:t>•  UX Designer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8006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Calibri"/>
              </a:rPr>
              <a:t>Phase 1, 4 (UI-heavy work)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Calibri"/>
              </a:rPr>
              <a:t>•  Armanino SME (PDL+PO)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12064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Calibri"/>
              </a:rPr>
              <a:t>Part-time embed, all phases — calc parity acceptance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949300"/>
                </a:solidFill>
                <a:latin typeface="Calibri"/>
              </a:rPr>
              <a:t>ROI levers (Armanino to validate magnitudes)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2A37"/>
                </a:solidFill>
                <a:latin typeface="Calibri"/>
              </a:rPr>
              <a:t>• PDL time saved: 4–6 hrs / Tax engagement × 1,000+ engagements / yr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2A37"/>
                </a:solidFill>
                <a:latin typeface="Calibri"/>
              </a:rPr>
              <a:t>• Margin recovery: 1–2% lift × pipeline through advisor + creep detector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2A37"/>
                </a:solidFill>
                <a:latin typeface="Calibri"/>
              </a:rPr>
              <a:t>• Audit defensibility: zero-cost audit-trail vs ad-hoc Excel reconstruction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F2A37"/>
                </a:solidFill>
                <a:latin typeface="Calibri"/>
              </a:rPr>
              <a:t>• Renewal throughput: 200-deal batch in hours, not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What we need from you — and what you 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49300"/>
                </a:solidFill>
                <a:latin typeface="Calibri"/>
              </a:rPr>
              <a:t>Phase 1 GO is a small, low-risk commitment with measurable proof in 8 weeks.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10000"/>
            </a:avLst>
          </a:prstGeom>
          <a:solidFill>
            <a:srgbClr val="FFF1DA"/>
          </a:solidFill>
          <a:ln>
            <a:solidFill>
              <a:srgbClr val="DA7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A720F"/>
                </a:solidFill>
                <a:latin typeface="Calibri"/>
              </a:rPr>
              <a:t>What we need from Armanino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12080" cy="3383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10 representative Excel pricing workbooks for calc-parity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Tax scope-catalog source data (1040 / 1120 / 1065 / 1120S
   + multi-state list + Tax PHB Standard Bundle definition)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D365 sandbox access for opportunity-context auto-load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PDL + PO part-time embed for calc-parity acceptance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GO decision at end of each 8-week phase (5 GO gates total)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(Phase 2) Anthropic / OpenAI / Azure OpenAI key access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(Phase 4) Intapp Intake + Screening API access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(Phase 5) Historical engagement data for ML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91640"/>
            <a:ext cx="5486400" cy="4114800"/>
          </a:xfrm>
          <a:prstGeom prst="roundRect">
            <a:avLst>
              <a:gd name="adj" fmla="val 10000"/>
            </a:avLst>
          </a:prstGeom>
          <a:solidFill>
            <a:srgbClr val="F1F1DC"/>
          </a:solidFill>
          <a:ln>
            <a:solidFill>
              <a:srgbClr val="949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949300"/>
                </a:solidFill>
                <a:latin typeface="Calibri"/>
              </a:rPr>
              <a:t>What you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5212080" cy="3383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Week 4 — Shared dev URL with Tax scope catalog seeded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Week 8 — Calc parity sign-off; Phase 1 demo to leadership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Week 16 — Real LLMs powering risk + margin AI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Week 24 — Vector similarity + voice-to-scope live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Week 32 — Intapp Intake/Screening live + client portal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Week 40 — Trained ML + Slack/Teams + production hardened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>
                <a:solidFill>
                  <a:srgbClr val="1F2A37"/>
                </a:solidFill>
                <a:latin typeface="Calibri"/>
              </a:rPr>
              <a:t>• Always — open source code, audit trail, no vendor lock-in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solidFill>
            <a:srgbClr val="DA7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Ask: 8-week Phase 1 GO. Calc parity proven. Tax foundation seeded. AI-native demo by Week 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DealPad — Pricing &amp; Scoping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